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9350"/>
            <a:ext cx="3263801" cy="225326"/>
          </a:xfrm>
          <a:prstGeom prst="roundRect">
            <a:avLst>
              <a:gd name="adj" fmla="val 6763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07009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9D7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MULTI-AGENT PERSONALIZED LEARNING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1000" y="707827"/>
            <a:ext cx="8549640" cy="6813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85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基于大模型的个性化资源生成</a:t>
            </a:r>
            <a:endParaRPr lang="en-US" sz="2200" dirty="0"/>
          </a:p>
          <a:p>
            <a:pPr marL="0" indent="0" algn="l">
              <a:lnSpc>
                <a:spcPts val="2685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与学习多智能体系统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490663"/>
            <a:ext cx="1371600" cy="50750"/>
          </a:xfrm>
          <a:prstGeom prst="roundRect">
            <a:avLst>
              <a:gd name="adj" fmla="val 50049"/>
            </a:avLst>
          </a:prstGeom>
          <a:solidFill>
            <a:srgbClr val="60A5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681014"/>
            <a:ext cx="7901889" cy="1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1000"/>
              </a:spcAft>
              <a:buNone/>
            </a:pPr>
            <a:r>
              <a:rPr lang="en-US" sz="920" dirty="0">
                <a:solidFill>
                  <a:srgbClr val="C7D9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围绕学习者画像、知识库、知识图谱与学习反馈闭环，构建一个能够自动生成课件、习题、路径、问答与报告的协同式智能学习平台。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81000" y="2017514"/>
            <a:ext cx="2028825" cy="644426"/>
          </a:xfrm>
          <a:prstGeom prst="roundRect">
            <a:avLst>
              <a:gd name="adj" fmla="val 15766"/>
            </a:avLst>
          </a:prstGeom>
          <a:solidFill>
            <a:srgbClr val="1732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436" y="2106364"/>
            <a:ext cx="1913954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436" y="2439739"/>
            <a:ext cx="191395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9FC4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核心智能体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98675" y="2017514"/>
            <a:ext cx="2028974" cy="644426"/>
          </a:xfrm>
          <a:prstGeom prst="roundRect">
            <a:avLst>
              <a:gd name="adj" fmla="val 15766"/>
            </a:avLst>
          </a:prstGeom>
          <a:solidFill>
            <a:srgbClr val="1732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56110" y="2106364"/>
            <a:ext cx="1914105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56110" y="2439739"/>
            <a:ext cx="19141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9FC4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后端微服务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16500" y="2017514"/>
            <a:ext cx="2028825" cy="644426"/>
          </a:xfrm>
          <a:prstGeom prst="roundRect">
            <a:avLst>
              <a:gd name="adj" fmla="val 15766"/>
            </a:avLst>
          </a:prstGeom>
          <a:solidFill>
            <a:srgbClr val="1732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73935" y="2106364"/>
            <a:ext cx="1913954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73935" y="2439739"/>
            <a:ext cx="191395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9FC4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画像维度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34175" y="2017514"/>
            <a:ext cx="2028825" cy="644426"/>
          </a:xfrm>
          <a:prstGeom prst="roundRect">
            <a:avLst>
              <a:gd name="adj" fmla="val 15766"/>
            </a:avLst>
          </a:prstGeom>
          <a:solidFill>
            <a:srgbClr val="1732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91611" y="2106364"/>
            <a:ext cx="1913954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91611" y="2439739"/>
            <a:ext cx="191395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9FC4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学习闭环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1000" y="2776240"/>
            <a:ext cx="2824311" cy="759321"/>
          </a:xfrm>
          <a:prstGeom prst="roundRect">
            <a:avLst>
              <a:gd name="adj" fmla="val 13380"/>
            </a:avLst>
          </a:prstGeom>
          <a:solidFill>
            <a:srgbClr val="142B54"/>
          </a:solidFill>
          <a:ln w="9525">
            <a:solidFill>
              <a:srgbClr val="294A7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2026" y="2874615"/>
            <a:ext cx="265430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核心定位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92026" y="3077766"/>
            <a:ext cx="2654305" cy="20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4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面向学生差异化学习，把“资源生成、练习评价、路径规划、即时答疑”组织成可持续迭代的教学支持系统。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3294162" y="2776240"/>
            <a:ext cx="2689920" cy="759321"/>
          </a:xfrm>
          <a:prstGeom prst="roundRect">
            <a:avLst>
              <a:gd name="adj" fmla="val 13380"/>
            </a:avLst>
          </a:prstGeom>
          <a:solidFill>
            <a:srgbClr val="142B54"/>
          </a:solidFill>
          <a:ln w="9525">
            <a:solidFill>
              <a:srgbClr val="294A7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05188" y="2874615"/>
            <a:ext cx="25172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功能覆盖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3405188" y="3077766"/>
            <a:ext cx="2467868" cy="340370"/>
          </a:xfrm>
          <a:prstGeom prst="rect">
            <a:avLst/>
          </a:prstGeom>
          <a:noFill/>
        </p:spPr>
        <p:txBody>
          <a:bodyPr wrap="square" lIns="69850" tIns="0" rIns="0" bIns="0" rtlCol="0" anchor="t"/>
          <a:lstStyle/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个性化课件与学习资料</a:t>
            </a:r>
            <a:endParaRPr lang="en-US" sz="620" dirty="0"/>
          </a:p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智能习题、错题本、报告</a:t>
            </a:r>
            <a:endParaRPr lang="en-US" sz="620" dirty="0"/>
          </a:p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知识图谱、RAG、学习路径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6072932" y="2776240"/>
            <a:ext cx="2690068" cy="759321"/>
          </a:xfrm>
          <a:prstGeom prst="roundRect">
            <a:avLst>
              <a:gd name="adj" fmla="val 13380"/>
            </a:avLst>
          </a:prstGeom>
          <a:solidFill>
            <a:srgbClr val="142B54"/>
          </a:solidFill>
          <a:ln w="9525">
            <a:solidFill>
              <a:srgbClr val="294A7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83957" y="2874615"/>
            <a:ext cx="251737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质量保障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6183957" y="3077766"/>
            <a:ext cx="2468017" cy="340370"/>
          </a:xfrm>
          <a:prstGeom prst="rect">
            <a:avLst/>
          </a:prstGeom>
          <a:noFill/>
        </p:spPr>
        <p:txBody>
          <a:bodyPr wrap="square" lIns="69850" tIns="0" rIns="0" bIns="0" rtlCol="0" anchor="t"/>
          <a:lstStyle/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审核智能体拦截跑题/错误内容</a:t>
            </a:r>
            <a:endParaRPr lang="en-US" sz="620" dirty="0"/>
          </a:p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大/小模型路由与 provider 降级</a:t>
            </a:r>
            <a:endParaRPr lang="en-US" sz="620" dirty="0"/>
          </a:p>
          <a:p>
            <a:pPr marL="69850" indent="-69850" algn="l">
              <a:lnSpc>
                <a:spcPts val="795"/>
              </a:lnSpc>
              <a:spcAft>
                <a:spcPts val="150"/>
              </a:spcAft>
              <a:buSzPct val="100000"/>
              <a:buChar char="•"/>
            </a:pPr>
            <a:r>
              <a:rPr lang="en-US" sz="620" dirty="0">
                <a:solidFill>
                  <a:srgbClr val="BFD4F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评价结果回流画像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381000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850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画像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80901" y="4748213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17377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6227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图谱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317278" y="4748213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53753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42604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资源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853654" y="4748213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90130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078980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习题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390031" y="4748213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26506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615357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评价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926407" y="4748213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62883" y="4705350"/>
            <a:ext cx="349151" cy="209550"/>
          </a:xfrm>
          <a:prstGeom prst="roundRect">
            <a:avLst>
              <a:gd name="adj" fmla="val 60606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51733" y="4743450"/>
            <a:ext cx="1748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5F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反馈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65633" y="4800600"/>
            <a:ext cx="179736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FA9D2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RAG · Knowledge Graph · Closed-Loop Learning</a:t>
            </a:r>
            <a:endParaRPr lang="en-US" sz="700" dirty="0"/>
          </a:p>
        </p:txBody>
      </p:sp>
      <p:sp>
        <p:nvSpPr>
          <p:cNvPr id="46" name="文本框 45"/>
          <p:cNvSpPr txBox="1"/>
          <p:nvPr/>
        </p:nvSpPr>
        <p:spPr>
          <a:xfrm>
            <a:off x="3806190" y="3898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04800"/>
            <a:ext cx="1684121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707975"/>
            <a:ext cx="168412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800" dirty="0">
                <a:solidFill>
                  <a:srgbClr val="99AED2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3901" y="1034951"/>
            <a:ext cx="431750" cy="381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901" y="1301651"/>
            <a:ext cx="168412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800" dirty="0">
                <a:solidFill>
                  <a:srgbClr val="C8D7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整套汇报围绕“为什么做、如何协作、功能价值、技术亮点、未来方向”五条主线展开。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3901" y="1962001"/>
            <a:ext cx="304800" cy="180975"/>
          </a:xfrm>
          <a:prstGeom prst="roundRect">
            <a:avLst>
              <a:gd name="adj" fmla="val 7017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2000101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DCEB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画像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09451" y="1962001"/>
            <a:ext cx="295275" cy="180975"/>
          </a:xfrm>
          <a:prstGeom prst="roundRect">
            <a:avLst>
              <a:gd name="adj" fmla="val 7017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2000101"/>
            <a:ext cx="14573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DCEB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955477" y="1962001"/>
            <a:ext cx="304800" cy="180975"/>
          </a:xfrm>
          <a:prstGeom prst="roundRect">
            <a:avLst>
              <a:gd name="adj" fmla="val 7017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1677" y="2000101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DCEB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图谱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311027" y="1962001"/>
            <a:ext cx="304800" cy="180975"/>
          </a:xfrm>
          <a:prstGeom prst="roundRect">
            <a:avLst>
              <a:gd name="adj" fmla="val 7017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7227" y="2000101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DCEB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审核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53901" y="2193727"/>
            <a:ext cx="304800" cy="180975"/>
          </a:xfrm>
          <a:prstGeom prst="roundRect">
            <a:avLst>
              <a:gd name="adj" fmla="val 7017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0101" y="22318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DCEB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闭环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362051" y="152400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73077" y="238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39752" y="300038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28627" y="238125"/>
            <a:ext cx="256489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项目背景与目标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28627" y="425351"/>
            <a:ext cx="2564892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说明教育场景痛点，以及为什么需要多智能体协作而不是单模型直接生成。</a:t>
            </a:r>
            <a:endParaRPr lang="en-US" sz="625" dirty="0"/>
          </a:p>
        </p:txBody>
      </p:sp>
      <p:sp>
        <p:nvSpPr>
          <p:cNvPr id="22" name="Text 20"/>
          <p:cNvSpPr/>
          <p:nvPr/>
        </p:nvSpPr>
        <p:spPr>
          <a:xfrm>
            <a:off x="2362051" y="660053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473077" y="7457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39752" y="807690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28627" y="745778"/>
            <a:ext cx="221513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系统总体架构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28627" y="933004"/>
            <a:ext cx="2215134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介绍六个服务、多库协同和 agent-service 作为中枢的整体设计。</a:t>
            </a:r>
            <a:endParaRPr lang="en-US" sz="625" dirty="0"/>
          </a:p>
        </p:txBody>
      </p:sp>
      <p:sp>
        <p:nvSpPr>
          <p:cNvPr id="27" name="Text 25"/>
          <p:cNvSpPr/>
          <p:nvPr/>
        </p:nvSpPr>
        <p:spPr>
          <a:xfrm>
            <a:off x="2362051" y="1167705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473077" y="125343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39752" y="1315343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28627" y="1253430"/>
            <a:ext cx="20208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多智能体协调系统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28627" y="1440656"/>
            <a:ext cx="2020824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讲清协调器如何选智能体、排顺序、传上下文和汇总结果。</a:t>
            </a:r>
            <a:endParaRPr lang="en-US" sz="625" dirty="0"/>
          </a:p>
        </p:txBody>
      </p:sp>
      <p:sp>
        <p:nvSpPr>
          <p:cNvPr id="32" name="Text 30"/>
          <p:cNvSpPr/>
          <p:nvPr/>
        </p:nvSpPr>
        <p:spPr>
          <a:xfrm>
            <a:off x="2362051" y="1675358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73077" y="176108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539752" y="1822996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28627" y="1761083"/>
            <a:ext cx="226371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个性化资源生成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28627" y="1948309"/>
            <a:ext cx="2263712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展示课件如何结合画像、RAG 和图谱，生成适配学生的学习材料。</a:t>
            </a:r>
            <a:endParaRPr lang="en-US" sz="625" dirty="0"/>
          </a:p>
        </p:txBody>
      </p:sp>
      <p:sp>
        <p:nvSpPr>
          <p:cNvPr id="37" name="Text 35"/>
          <p:cNvSpPr/>
          <p:nvPr/>
        </p:nvSpPr>
        <p:spPr>
          <a:xfrm>
            <a:off x="2362051" y="2183011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473077" y="22687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39752" y="2330648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28627" y="2268736"/>
            <a:ext cx="20208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智能习题生成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28627" y="2455962"/>
            <a:ext cx="2020824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说明题目生成如何与课件、评价和画像更新形成学习闭环。</a:t>
            </a:r>
            <a:endParaRPr lang="en-US" sz="625" dirty="0"/>
          </a:p>
        </p:txBody>
      </p:sp>
      <p:sp>
        <p:nvSpPr>
          <p:cNvPr id="42" name="Text 40"/>
          <p:cNvSpPr/>
          <p:nvPr/>
        </p:nvSpPr>
        <p:spPr>
          <a:xfrm>
            <a:off x="2362051" y="2690664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473077" y="277638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539752" y="2838301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28627" y="2776389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智能问答系统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28627" y="2963614"/>
            <a:ext cx="2176272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说明答疑如何结合知识库、图谱与学生上下文输出教学式回答。</a:t>
            </a:r>
            <a:endParaRPr lang="en-US" sz="625" dirty="0"/>
          </a:p>
        </p:txBody>
      </p:sp>
      <p:sp>
        <p:nvSpPr>
          <p:cNvPr id="47" name="Text 45"/>
          <p:cNvSpPr/>
          <p:nvPr/>
        </p:nvSpPr>
        <p:spPr>
          <a:xfrm>
            <a:off x="5708600" y="152400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819626" y="238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86301" y="300038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5177" y="238125"/>
            <a:ext cx="194310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大小模型协作聊天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75177" y="425351"/>
            <a:ext cx="1943100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展示系统如何在速度、成本和回答质量之间做动态平衡。</a:t>
            </a:r>
            <a:endParaRPr lang="en-US" sz="625" dirty="0"/>
          </a:p>
        </p:txBody>
      </p:sp>
      <p:sp>
        <p:nvSpPr>
          <p:cNvPr id="52" name="Text 50"/>
          <p:cNvSpPr/>
          <p:nvPr/>
        </p:nvSpPr>
        <p:spPr>
          <a:xfrm>
            <a:off x="5708600" y="660053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19626" y="7457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86301" y="807690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75177" y="745778"/>
            <a:ext cx="170992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学习路径规划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75177" y="933004"/>
            <a:ext cx="1709928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说明如何把学生状态转化成每日任务和阶段目标。</a:t>
            </a:r>
            <a:endParaRPr lang="en-US" sz="625" dirty="0"/>
          </a:p>
        </p:txBody>
      </p:sp>
      <p:sp>
        <p:nvSpPr>
          <p:cNvPr id="57" name="Text 55"/>
          <p:cNvSpPr/>
          <p:nvPr/>
        </p:nvSpPr>
        <p:spPr>
          <a:xfrm>
            <a:off x="5708600" y="1167705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19626" y="125343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886301" y="1315343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75177" y="1253430"/>
            <a:ext cx="209854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知识图谱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75177" y="1440656"/>
            <a:ext cx="2098548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说明图谱如何为生成、问答和路径规划提供结构化知识依据。</a:t>
            </a:r>
            <a:endParaRPr lang="en-US" sz="625" dirty="0"/>
          </a:p>
        </p:txBody>
      </p:sp>
      <p:sp>
        <p:nvSpPr>
          <p:cNvPr id="62" name="Text 60"/>
          <p:cNvSpPr/>
          <p:nvPr/>
        </p:nvSpPr>
        <p:spPr>
          <a:xfrm>
            <a:off x="5708600" y="1675358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819626" y="176108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886301" y="1822996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175177" y="1761083"/>
            <a:ext cx="186537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学习评价与报告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75177" y="1948309"/>
            <a:ext cx="1865376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展示作答、评分、错题、报告和数据回流的闭环设计。</a:t>
            </a:r>
            <a:endParaRPr lang="en-US" sz="625" dirty="0"/>
          </a:p>
        </p:txBody>
      </p:sp>
      <p:sp>
        <p:nvSpPr>
          <p:cNvPr id="67" name="Text 65"/>
          <p:cNvSpPr/>
          <p:nvPr/>
        </p:nvSpPr>
        <p:spPr>
          <a:xfrm>
            <a:off x="5708600" y="2183011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819626" y="22687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886301" y="2330648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175177" y="2268736"/>
            <a:ext cx="16322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画像与反馈智能体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175177" y="2455962"/>
            <a:ext cx="1632204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说明六维画像和联合反馈如何驱动持续个性化。</a:t>
            </a:r>
            <a:endParaRPr lang="en-US" sz="625" dirty="0"/>
          </a:p>
        </p:txBody>
      </p:sp>
      <p:sp>
        <p:nvSpPr>
          <p:cNvPr id="72" name="Text 70"/>
          <p:cNvSpPr/>
          <p:nvPr/>
        </p:nvSpPr>
        <p:spPr>
          <a:xfrm>
            <a:off x="5708600" y="2690664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819626" y="277638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886301" y="2838301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75177" y="2776389"/>
            <a:ext cx="178765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多角色前端界面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75177" y="2963614"/>
            <a:ext cx="1787652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展示学生端、教师端、管理端如何承接智能体结果。</a:t>
            </a:r>
            <a:endParaRPr lang="en-US" sz="625" dirty="0"/>
          </a:p>
        </p:txBody>
      </p:sp>
      <p:sp>
        <p:nvSpPr>
          <p:cNvPr id="77" name="Text 75"/>
          <p:cNvSpPr/>
          <p:nvPr/>
        </p:nvSpPr>
        <p:spPr>
          <a:xfrm>
            <a:off x="5708600" y="3198316"/>
            <a:ext cx="3232249" cy="456902"/>
          </a:xfrm>
          <a:prstGeom prst="roundRect">
            <a:avLst>
              <a:gd name="adj" fmla="val 22237"/>
            </a:avLst>
          </a:prstGeom>
          <a:solidFill>
            <a:srgbClr val="FFFFFF"/>
          </a:solidFill>
          <a:ln w="9525">
            <a:solidFill>
              <a:srgbClr val="E5EEF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819626" y="328404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5886301" y="3345954"/>
            <a:ext cx="1360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75177" y="3284041"/>
            <a:ext cx="147675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技术亮点、流程与总结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75177" y="3471267"/>
            <a:ext cx="1476756" cy="9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5" dirty="0">
                <a:solidFill>
                  <a:srgbClr val="5B6B8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汇总创新点、全系统协作流程和未来展望。</a:t>
            </a:r>
            <a:endParaRPr lang="en-US" sz="6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F1A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  项目背景与目标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04800" y="920651"/>
            <a:ext cx="426191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40A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教育场景中的核心痛点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800" y="1187351"/>
            <a:ext cx="4178350" cy="314920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8613" y="1187351"/>
            <a:ext cx="0" cy="31492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276201"/>
            <a:ext cx="398016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学习资源统一分发，很难适应不同学生的基础差异、学习速度和认知偏好。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1591121"/>
            <a:ext cx="4178350" cy="452140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1591121"/>
            <a:ext cx="0" cy="45214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725" y="1679972"/>
            <a:ext cx="3980167" cy="274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学生做题后往往只知道对错，却不知道为什么错、缺什么前置知识、下一步该学什么。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800" y="2132112"/>
            <a:ext cx="4178350" cy="452140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613" y="2132112"/>
            <a:ext cx="0" cy="45214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725" y="2220962"/>
            <a:ext cx="3980167" cy="274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单一大模型直接生成教学内容，容易出现缺少知识依据、个性化不足和稳定性不够的问题。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0850" y="920651"/>
            <a:ext cx="426191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40A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系统目标与解决思路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0850" y="1187351"/>
            <a:ext cx="4178350" cy="393502"/>
          </a:xfrm>
          <a:prstGeom prst="roundRect">
            <a:avLst>
              <a:gd name="adj" fmla="val 25820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351" y="1276201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1677" y="1322189"/>
            <a:ext cx="5829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67002" y="1276201"/>
            <a:ext cx="363359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构建动态学习者画像，把学生的基础、偏好、薄弱点和目标转成可用上下文。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0850" y="1669703"/>
            <a:ext cx="4178350" cy="393502"/>
          </a:xfrm>
          <a:prstGeom prst="roundRect">
            <a:avLst>
              <a:gd name="adj" fmla="val 25820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2351" y="1758553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41677" y="1804541"/>
            <a:ext cx="5829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67002" y="1758553"/>
            <a:ext cx="352672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让课件、习题、路径、问答和反馈不再孤立，而是由多个智能体联合完成。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0850" y="2152055"/>
            <a:ext cx="4178350" cy="393502"/>
          </a:xfrm>
          <a:prstGeom prst="roundRect">
            <a:avLst>
              <a:gd name="adj" fmla="val 25820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351" y="2240905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1677" y="2286893"/>
            <a:ext cx="5829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67002" y="2240905"/>
            <a:ext cx="3585020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通过 RAG 和知识图谱为大模型提供语义依据与结构依据，提高内容可靠性。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0850" y="2634407"/>
            <a:ext cx="4178350" cy="452140"/>
          </a:xfrm>
          <a:prstGeom prst="roundRect">
            <a:avLst>
              <a:gd name="adj" fmla="val 2247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351" y="2723257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41677" y="2769245"/>
            <a:ext cx="5829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67002" y="2723257"/>
            <a:ext cx="3744111" cy="274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把评价结果回流到画像和路径中，形成“学习—练习—评价—再优化”的持续闭环。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800" y="4365873"/>
            <a:ext cx="8534400" cy="650677"/>
          </a:xfrm>
          <a:prstGeom prst="roundRect">
            <a:avLst>
              <a:gd name="adj" fmla="val 19518"/>
            </a:avLst>
          </a:prstGeom>
          <a:solidFill>
            <a:srgbClr val="0F204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4480173"/>
            <a:ext cx="839419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E7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多智能体协作主线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3400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画像分析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90600" y="4748361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4425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90625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知识增强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647825" y="4748361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771650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847850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资源生成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05050" y="4748361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28875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505075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习题练习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62275" y="4748361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86100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162300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学习评价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19500" y="4748361"/>
            <a:ext cx="874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C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43325" y="4718298"/>
            <a:ext cx="495300" cy="183952"/>
          </a:xfrm>
          <a:prstGeom prst="roundRect">
            <a:avLst>
              <a:gd name="adj" fmla="val 6904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819525" y="4743599"/>
            <a:ext cx="34975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反馈优化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2526"/>
          </a:xfrm>
          <a:prstGeom prst="rect">
            <a:avLst/>
          </a:prstGeom>
          <a:solidFill>
            <a:srgbClr val="0F1A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系统总体架构 — 多智能体协作基础设施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809476"/>
            <a:ext cx="43267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服务层 — 6 微服务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1041202"/>
            <a:ext cx="4241899" cy="25301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901" y="1117253"/>
            <a:ext cx="4241899" cy="28575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2951" y="1117253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851" y="1155353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2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user-service :8001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0851" y="1260128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注册登录 · 鉴权 · 画像构建与更新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3901" y="1441103"/>
            <a:ext cx="4241899" cy="314325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2951" y="1441103"/>
            <a:ext cx="0" cy="31432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851" y="1479203"/>
            <a:ext cx="410662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2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agent-service :8002 ★ 核心调度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0851" y="1612553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智能体编排 · 课件/习题/路径/问答/图谱/反馈/审核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53901" y="1793528"/>
            <a:ext cx="4241899" cy="28575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2951" y="1793528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851" y="1831628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2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resource-service :8003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0851" y="1936403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学习资源存储 · 检索 · 导出与管理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53901" y="2117378"/>
            <a:ext cx="4241899" cy="28575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2951" y="2117378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851" y="2155478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2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evaluation-service :8004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0851" y="2260253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评分判定 · 错题本 · 报告 · 数据回流画像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3901" y="2441228"/>
            <a:ext cx="4241899" cy="28575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72951" y="2441228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851" y="2479328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2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teacher-service :8005 / system-service :8006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0851" y="2584103"/>
            <a:ext cx="4106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教师工作台 · 班级洞察 / 配置 · 角色 · 审计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48200" y="809476"/>
            <a:ext cx="43267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协作基础设施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8200" y="1041202"/>
            <a:ext cx="4241899" cy="25301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48200" y="1158627"/>
            <a:ext cx="526852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11601" y="1183928"/>
            <a:ext cx="408051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PostgreSQL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200352" y="1158627"/>
            <a:ext cx="317302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63753" y="1183928"/>
            <a:ext cx="194310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542955" y="1158627"/>
            <a:ext cx="460177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06355" y="1183928"/>
            <a:ext cx="340042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RabbitMQ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28432" y="1158627"/>
            <a:ext cx="317302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91833" y="1183928"/>
            <a:ext cx="194310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Neo4j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371034" y="1158627"/>
            <a:ext cx="488752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34435" y="1183928"/>
            <a:ext cx="369189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ChromaDB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885087" y="1158627"/>
            <a:ext cx="326827" cy="145852"/>
          </a:xfrm>
          <a:prstGeom prst="roundRect">
            <a:avLst>
              <a:gd name="adj" fmla="val 26122"/>
            </a:avLst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48488" y="1183928"/>
            <a:ext cx="204026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MinIO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48200" y="1405979"/>
            <a:ext cx="43267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容灾链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48200" y="1637705"/>
            <a:ext cx="4241899" cy="25301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48200" y="1713756"/>
            <a:ext cx="4241899" cy="225326"/>
          </a:xfrm>
          <a:prstGeom prst="roundRect">
            <a:avLst>
              <a:gd name="adj" fmla="val 2254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06124" y="1774031"/>
            <a:ext cx="412605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34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DeepSeek（主力）→ Qwen（备用）→ OpenAI（保底）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648200" y="2027932"/>
            <a:ext cx="43267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前端技术栈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48200" y="2259657"/>
            <a:ext cx="4241899" cy="25301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48200" y="2377083"/>
            <a:ext cx="460177" cy="145852"/>
          </a:xfrm>
          <a:prstGeom prst="roundRect">
            <a:avLst>
              <a:gd name="adj" fmla="val 26122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11601" y="2402384"/>
            <a:ext cx="340042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 3 / TS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33677" y="2377083"/>
            <a:ext cx="545902" cy="145852"/>
          </a:xfrm>
          <a:prstGeom prst="roundRect">
            <a:avLst>
              <a:gd name="adj" fmla="val 26122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97078" y="2402384"/>
            <a:ext cx="427482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Element Plus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704880" y="2367558"/>
            <a:ext cx="650677" cy="155377"/>
          </a:xfrm>
          <a:prstGeom prst="roundRect">
            <a:avLst>
              <a:gd name="adj" fmla="val 24521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8280" y="2392859"/>
            <a:ext cx="53435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vis-network 图谱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2624435"/>
            <a:ext cx="432673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智能体协作数据流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48200" y="2856161"/>
            <a:ext cx="4241899" cy="25301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48200" y="2957661"/>
            <a:ext cx="4241899" cy="530870"/>
          </a:xfrm>
          <a:prstGeom prst="roundRect">
            <a:avLst>
              <a:gd name="adj" fmla="val 956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9226" y="3043386"/>
            <a:ext cx="4100245" cy="35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前端请求 → agent-service 协调器 → 9 智能体按序执行：画像提供个性化上下文 → 图谱/知识库提供grounding → 资源/习题/路径产出教学内容 → 审核智能体拦截跑题/错误内容 → 评价回流画像 → 反馈合成统一报告 → 驱动下一轮推荐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8200"/>
            <a:ext cx="91440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90500"/>
            <a:ext cx="8601557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多智能体协调系统 - 系统大脑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571500"/>
            <a:ext cx="860155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BBD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CoordinatorWorkflow 负责选智能体、排顺序、传上下文、收结果；审核智能体负责生成内容的安全与质量把关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84200"/>
            <a:ext cx="4371975" cy="1705124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82576"/>
            <a:ext cx="423292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CoordinatorWorkflow 三步编排引擎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9626" y="1326952"/>
            <a:ext cx="4149923" cy="370582"/>
          </a:xfrm>
          <a:prstGeom prst="roundRect">
            <a:avLst>
              <a:gd name="adj" fmla="val 2741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5826" y="139035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8752" y="1425178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95176" y="1390352"/>
            <a:ext cx="341014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analyze_intent 意图分析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95176" y="1545878"/>
            <a:ext cx="3410141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理解用户请求，从 9 个智能体中选出需要参与的组合，支持 force_agents 指定和关键词自动路由。</a:t>
            </a:r>
            <a:endParaRPr lang="en-US" sz="590" dirty="0"/>
          </a:p>
        </p:txBody>
      </p:sp>
      <p:sp>
        <p:nvSpPr>
          <p:cNvPr id="13" name="Text 11"/>
          <p:cNvSpPr/>
          <p:nvPr/>
        </p:nvSpPr>
        <p:spPr>
          <a:xfrm>
            <a:off x="339626" y="1748284"/>
            <a:ext cx="4149923" cy="370582"/>
          </a:xfrm>
          <a:prstGeom prst="roundRect">
            <a:avLst>
              <a:gd name="adj" fmla="val 2741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5826" y="181168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752" y="1846511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5176" y="1811685"/>
            <a:ext cx="376961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dispatch_tasks 任务分发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95176" y="1967210"/>
            <a:ext cx="3769614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画像先提供上下文，图谱/知识库提供依据，资源/习题/路径/问答执行生成或分析，审核节点对生成结果把关。</a:t>
            </a:r>
            <a:endParaRPr lang="en-US" sz="590" dirty="0"/>
          </a:p>
        </p:txBody>
      </p:sp>
      <p:sp>
        <p:nvSpPr>
          <p:cNvPr id="18" name="Text 16"/>
          <p:cNvSpPr/>
          <p:nvPr/>
        </p:nvSpPr>
        <p:spPr>
          <a:xfrm>
            <a:off x="339626" y="2169616"/>
            <a:ext cx="4149923" cy="370582"/>
          </a:xfrm>
          <a:prstGeom prst="roundRect">
            <a:avLst>
              <a:gd name="adj" fmla="val 2741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5826" y="223301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752" y="2267843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5176" y="2233017"/>
            <a:ext cx="306038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resolve_conflicts 冲突解决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95176" y="2388543"/>
            <a:ext cx="3060383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处理资源生成、审核、评价反馈等先后关系；汇总成功/失败智能体，输出本轮协作摘要。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228600" y="2765524"/>
            <a:ext cx="4371975" cy="1800225"/>
          </a:xfrm>
          <a:prstGeom prst="roundRect">
            <a:avLst>
              <a:gd name="adj" fmla="val 705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9626" y="2863900"/>
            <a:ext cx="423292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审核智能体的特殊逻辑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9626" y="3108275"/>
            <a:ext cx="4149923" cy="370582"/>
          </a:xfrm>
          <a:prstGeom prst="roundRect">
            <a:avLst>
              <a:gd name="adj" fmla="val 2741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5826" y="31716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989" y="3206502"/>
            <a:ext cx="6800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95176" y="3171676"/>
            <a:ext cx="341014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AuditService 内容审核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95176" y="3327202"/>
            <a:ext cx="3410141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 AI 生成课件和习题是否严重跑题、明显学术错误、空内容/乱码，以及价值观或安全风险内容。</a:t>
            </a:r>
            <a:endParaRPr lang="en-US" sz="590" dirty="0"/>
          </a:p>
        </p:txBody>
      </p:sp>
      <p:sp>
        <p:nvSpPr>
          <p:cNvPr id="30" name="Text 28"/>
          <p:cNvSpPr/>
          <p:nvPr/>
        </p:nvSpPr>
        <p:spPr>
          <a:xfrm>
            <a:off x="339626" y="3529608"/>
            <a:ext cx="4149923" cy="370582"/>
          </a:xfrm>
          <a:prstGeom prst="roundRect">
            <a:avLst>
              <a:gd name="adj" fmla="val 2741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5826" y="359300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8752" y="3627834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95176" y="3593009"/>
            <a:ext cx="329355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REJECT 后打回重生成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5176" y="3748534"/>
            <a:ext cx="3293555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审核不通过时，把驳回原因写入下一轮 prompt，资源/习题智能体最多重试 2 次后再返回结果。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228600" y="4641949"/>
            <a:ext cx="4371975" cy="349151"/>
          </a:xfrm>
          <a:prstGeom prst="roundRect">
            <a:avLst>
              <a:gd name="adj" fmla="val 32737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0101" y="4718149"/>
            <a:ext cx="4252353" cy="1967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5"/>
              </a:lnSpc>
              <a:buNone/>
            </a:pPr>
            <a:r>
              <a:rPr lang="en-US" sz="62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协调器不直接生成教学内容，而是负责组织协作；审核智能体则保证生成内容不能偏离用户需求，也不能把不合适内容交给学生。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4714875" y="984200"/>
            <a:ext cx="4200525" cy="3565475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25901" y="1082576"/>
            <a:ext cx="4058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个智能体的协作分工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5901" y="1326952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98827" y="1387227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898827" y="1533227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学生基础、偏好、薄弱点</a:t>
            </a:r>
            <a:endParaRPr lang="en-US" sz="520" dirty="0"/>
          </a:p>
        </p:txBody>
      </p:sp>
      <p:sp>
        <p:nvSpPr>
          <p:cNvPr id="42" name="Text 40"/>
          <p:cNvSpPr/>
          <p:nvPr/>
        </p:nvSpPr>
        <p:spPr>
          <a:xfrm>
            <a:off x="6168926" y="1326952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41852" y="1387227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agent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6241852" y="1533227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前置依赖、结构顺序</a:t>
            </a:r>
            <a:endParaRPr lang="en-US" sz="520" dirty="0"/>
          </a:p>
        </p:txBody>
      </p:sp>
      <p:sp>
        <p:nvSpPr>
          <p:cNvPr id="45" name="Text 43"/>
          <p:cNvSpPr/>
          <p:nvPr/>
        </p:nvSpPr>
        <p:spPr>
          <a:xfrm>
            <a:off x="7511951" y="1326952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584877" y="1387227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 agent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7584877" y="1533227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grounding 内容</a:t>
            </a:r>
            <a:endParaRPr lang="en-US" sz="520" dirty="0"/>
          </a:p>
        </p:txBody>
      </p:sp>
      <p:sp>
        <p:nvSpPr>
          <p:cNvPr id="48" name="Text 46"/>
          <p:cNvSpPr/>
          <p:nvPr/>
        </p:nvSpPr>
        <p:spPr>
          <a:xfrm>
            <a:off x="4825901" y="1980754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98827" y="2041029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agent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4898827" y="2187029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阶段路线、每日任务</a:t>
            </a:r>
            <a:endParaRPr lang="en-US" sz="520" dirty="0"/>
          </a:p>
        </p:txBody>
      </p:sp>
      <p:sp>
        <p:nvSpPr>
          <p:cNvPr id="51" name="Text 49"/>
          <p:cNvSpPr/>
          <p:nvPr/>
        </p:nvSpPr>
        <p:spPr>
          <a:xfrm>
            <a:off x="6168926" y="1980754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41852" y="2041029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agent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241852" y="2187029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个性化课件与讲义</a:t>
            </a:r>
            <a:endParaRPr lang="en-US" sz="520" dirty="0"/>
          </a:p>
        </p:txBody>
      </p:sp>
      <p:sp>
        <p:nvSpPr>
          <p:cNvPr id="54" name="Text 52"/>
          <p:cNvSpPr/>
          <p:nvPr/>
        </p:nvSpPr>
        <p:spPr>
          <a:xfrm>
            <a:off x="7511951" y="1980754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584877" y="2041029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 agent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7584877" y="2187029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题组、答案、解析</a:t>
            </a:r>
            <a:endParaRPr lang="en-US" sz="520" dirty="0"/>
          </a:p>
        </p:txBody>
      </p:sp>
      <p:sp>
        <p:nvSpPr>
          <p:cNvPr id="57" name="Text 55"/>
          <p:cNvSpPr/>
          <p:nvPr/>
        </p:nvSpPr>
        <p:spPr>
          <a:xfrm>
            <a:off x="4825901" y="2634555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898827" y="2694831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 agent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4898827" y="2840831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诊断式答疑与建议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6168926" y="2634555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8FAFC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41852" y="2694831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 agent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241852" y="2840831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跨智能体综合反馈</a:t>
            </a:r>
            <a:endParaRPr lang="en-US" sz="520" dirty="0"/>
          </a:p>
        </p:txBody>
      </p:sp>
      <p:sp>
        <p:nvSpPr>
          <p:cNvPr id="63" name="Text 61"/>
          <p:cNvSpPr/>
          <p:nvPr/>
        </p:nvSpPr>
        <p:spPr>
          <a:xfrm>
            <a:off x="7511951" y="2634555"/>
            <a:ext cx="1292275" cy="603052"/>
          </a:xfrm>
          <a:prstGeom prst="roundRect">
            <a:avLst>
              <a:gd name="adj" fmla="val 16848"/>
            </a:avLst>
          </a:prstGeom>
          <a:solidFill>
            <a:srgbClr val="FFF1F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584877" y="2694831"/>
            <a:ext cx="1169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 agent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7584877" y="2840831"/>
            <a:ext cx="1169352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检查课件/习题，不合格打回重生成</a:t>
            </a:r>
            <a:endParaRPr lang="en-US" sz="520" dirty="0"/>
          </a:p>
        </p:txBody>
      </p:sp>
      <p:sp>
        <p:nvSpPr>
          <p:cNvPr id="66" name="Text 64"/>
          <p:cNvSpPr/>
          <p:nvPr/>
        </p:nvSpPr>
        <p:spPr>
          <a:xfrm>
            <a:off x="4714875" y="4625876"/>
            <a:ext cx="4200525" cy="365224"/>
          </a:xfrm>
          <a:prstGeom prst="roundRect">
            <a:avLst>
              <a:gd name="adj" fmla="val 31296"/>
            </a:avLst>
          </a:prstGeom>
          <a:solidFill>
            <a:srgbClr val="FFF7ED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825901" y="4711601"/>
            <a:ext cx="4058043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 agent 是生成链路的“闸门”：资源 agent 和习题 agent 的输出必须先通过审核，才能进入前端展示、评价服务和后续学习闭环。</a:t>
            </a:r>
            <a:endParaRPr lang="en-US" sz="6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个性化资源生成 - 多智能体协作产物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BBD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把同一个知识点转化为适合不同学生的课件、讲义、例题和复习材料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893987"/>
          </a:xfrm>
          <a:prstGeom prst="roundRect">
            <a:avLst>
              <a:gd name="adj" fmla="val 670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解决什么问题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传统资源对所有学生一样，无法适配基础差异、认知风格和错题模式。本功能把知识点生成变成“学生画像驱动的内容定制”。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生成什么内容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输出结构化课件、核心概念解释、例题讲解、易错点提醒、课堂练习、总结复盘和资源元数据。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2605832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28272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33347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为什么不是直接让 LLM 写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89002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直接生成容易空泛或顺序混乱；系统先检索知识库、检查图谱依赖、注入画像，再让模型生成。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941588"/>
            <a:ext cx="2827883" cy="2049512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3039963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284339"/>
            <a:ext cx="2605832" cy="661988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输入：知识点、学科、资源类型、难度目标、学生画像、教师约束。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画像输入：掌握度、学习速度、认知风格、兴趣方向、目标导向。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知识输入：知识库片段、易错点、应用场景、图谱前置依赖。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输出：Markdown 课件、生成计划、个性化说明、审核结果、存储记录。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后续流向：同步到资源库，可被习题、问答、路径和图谱继续复用。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834777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09239" y="1374428"/>
            <a:ext cx="75431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标准化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309239" y="1520428"/>
            <a:ext cx="754317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统一知识点名称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4154537" y="1314152"/>
            <a:ext cx="834926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94765" y="1374428"/>
            <a:ext cx="75446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画像快照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4194765" y="1520428"/>
            <a:ext cx="754469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读取学生状态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5040213" y="1314152"/>
            <a:ext cx="834777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80443" y="1374428"/>
            <a:ext cx="75431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RAG 检索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5080443" y="1520428"/>
            <a:ext cx="754317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查知识依据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3269010" y="1708249"/>
            <a:ext cx="834777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09239" y="1768525"/>
            <a:ext cx="75431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图谱校验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3309239" y="1914525"/>
            <a:ext cx="754317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检查前置知识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4154537" y="1708249"/>
            <a:ext cx="834926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94765" y="1768525"/>
            <a:ext cx="75446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生成计划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4194765" y="1914525"/>
            <a:ext cx="754469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确定结构与难度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5040213" y="1708249"/>
            <a:ext cx="834777" cy="343346"/>
          </a:xfrm>
          <a:prstGeom prst="roundRect">
            <a:avLst>
              <a:gd name="adj" fmla="val 25892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80443" y="1768525"/>
            <a:ext cx="75431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生成审核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080443" y="1914525"/>
            <a:ext cx="754317" cy="7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"/>
              </a:lnSpc>
              <a:buNone/>
            </a:pPr>
            <a:r>
              <a:rPr lang="en-US" sz="540" dirty="0">
                <a:solidFill>
                  <a:srgbClr val="5264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产出并保存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3269010" y="2102346"/>
            <a:ext cx="2605980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288060" y="2102346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310" y="215309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生成计划包含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383310" y="2308622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标题、受众、学习目标、章节结构、难度曲线、案例类型、练习配置、个性化提示和禁止项。</a:t>
            </a:r>
            <a:endParaRPr lang="en-US" sz="590" dirty="0"/>
          </a:p>
        </p:txBody>
      </p:sp>
      <p:sp>
        <p:nvSpPr>
          <p:cNvPr id="47" name="Text 45"/>
          <p:cNvSpPr/>
          <p:nvPr/>
        </p:nvSpPr>
        <p:spPr>
          <a:xfrm>
            <a:off x="3269010" y="2586633"/>
            <a:ext cx="2605980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288060" y="2586633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310" y="263738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质量控制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3383310" y="2792909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审核智能体检查主题匹配、学术正确性、空内容/乱码和价值观风险；REJECT 时把原因写入 prompt 并打回重生成。</a:t>
            </a:r>
            <a:endParaRPr lang="en-US" sz="590" dirty="0"/>
          </a:p>
        </p:txBody>
      </p:sp>
      <p:sp>
        <p:nvSpPr>
          <p:cNvPr id="51" name="Text 49"/>
          <p:cNvSpPr/>
          <p:nvPr/>
        </p:nvSpPr>
        <p:spPr>
          <a:xfrm>
            <a:off x="3269010" y="3070920"/>
            <a:ext cx="2605980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3288060" y="3070920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310" y="3121670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持久化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3383310" y="3277195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resource-service 存储资源记录，通过 MinIO 保存文件，通过知识图谱同步课件与知识点关系。</a:t>
            </a:r>
            <a:endParaRPr lang="en-US" sz="590" dirty="0"/>
          </a:p>
        </p:txBody>
      </p:sp>
      <p:sp>
        <p:nvSpPr>
          <p:cNvPr id="55" name="Text 53"/>
          <p:cNvSpPr/>
          <p:nvPr/>
        </p:nvSpPr>
        <p:spPr>
          <a:xfrm>
            <a:off x="6087517" y="971401"/>
            <a:ext cx="2827883" cy="1174254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参与协作的智能体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6198543" y="1365052"/>
            <a:ext cx="965002" cy="155377"/>
          </a:xfrm>
          <a:prstGeom prst="roundRect">
            <a:avLst>
              <a:gd name="adj" fmla="val 65390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61943" y="1390352"/>
            <a:ext cx="854964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agent：决定怎么讲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7236470" y="1365052"/>
            <a:ext cx="1041202" cy="155377"/>
          </a:xfrm>
          <a:prstGeom prst="roundRect">
            <a:avLst>
              <a:gd name="adj" fmla="val 65390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99871" y="1390352"/>
            <a:ext cx="93268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 agent：决定讲什么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6198543" y="1609427"/>
            <a:ext cx="1041202" cy="155377"/>
          </a:xfrm>
          <a:prstGeom prst="roundRect">
            <a:avLst>
              <a:gd name="adj" fmla="val 65390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61943" y="1634728"/>
            <a:ext cx="93268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agent：决定先后顺序</a:t>
            </a:r>
            <a:endParaRPr lang="en-US" sz="580" dirty="0"/>
          </a:p>
        </p:txBody>
      </p:sp>
      <p:sp>
        <p:nvSpPr>
          <p:cNvPr id="63" name="Text 61"/>
          <p:cNvSpPr/>
          <p:nvPr/>
        </p:nvSpPr>
        <p:spPr>
          <a:xfrm>
            <a:off x="7312670" y="1609427"/>
            <a:ext cx="888802" cy="155377"/>
          </a:xfrm>
          <a:prstGeom prst="roundRect">
            <a:avLst>
              <a:gd name="adj" fmla="val 65390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76071" y="1634728"/>
            <a:ext cx="77724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agent：生成课件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6198543" y="1853803"/>
            <a:ext cx="965002" cy="155377"/>
          </a:xfrm>
          <a:prstGeom prst="roundRect">
            <a:avLst>
              <a:gd name="adj" fmla="val 65390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261943" y="1879104"/>
            <a:ext cx="854964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 agent：不合格打回</a:t>
            </a:r>
            <a:endParaRPr lang="en-US" sz="580" dirty="0"/>
          </a:p>
        </p:txBody>
      </p:sp>
      <p:sp>
        <p:nvSpPr>
          <p:cNvPr id="67" name="Text 65"/>
          <p:cNvSpPr/>
          <p:nvPr/>
        </p:nvSpPr>
        <p:spPr>
          <a:xfrm>
            <a:off x="6087517" y="2221855"/>
            <a:ext cx="2827883" cy="2346871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198543" y="2320230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协作关系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6198543" y="2564606"/>
            <a:ext cx="2605832" cy="899517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画像智能体先给出“学生当前适合怎样学”。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知识库智能体提供 grounding，保证内容有依据。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图谱智能体判断是否需要先补前置知识。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资源智能体把三类上下文合并进 prompt，生成正式课件。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审核智能体调用 audit_courseware 检查课件，严重跑题/价值观风险/明显错误会 REJECT。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REJECT 后资源智能体最多重试 2 次，带着驳回原因重新生成。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评价智能体后续验证学习效果，把结果回流画像。</a:t>
            </a:r>
            <a:endParaRPr lang="en-US" sz="590" dirty="0"/>
          </a:p>
        </p:txBody>
      </p:sp>
      <p:sp>
        <p:nvSpPr>
          <p:cNvPr id="70" name="Text 68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答辩表达：资源生成不是单点 LLM 能力，而是画像、RAG、图谱和审核共同约束下的个性化内容生产流水线。</a:t>
            </a:r>
            <a:endParaRPr lang="en-US" sz="6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智能习题生成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FE8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从“会出题”升级为“围绕薄弱点定向训练，并把作答结果回流画像”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895177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解决什么问题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普通题库随机抽题无法针对学生短板；本功能根据画像和课件内容生成适配当前阶段的题组。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题型覆盖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支持选择题、填空题、判断题、简答题、编程题，每题包含答案、解析、知识点、难度和易错提醒。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304800" cy="155377"/>
          </a:xfrm>
          <a:prstGeom prst="roundRect">
            <a:avLst>
              <a:gd name="adj" fmla="val 65390"/>
            </a:avLst>
          </a:prstGeom>
          <a:solidFill>
            <a:srgbClr val="1E5A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826" y="23080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682526" y="2282726"/>
            <a:ext cx="304800" cy="155377"/>
          </a:xfrm>
          <a:prstGeom prst="roundRect">
            <a:avLst>
              <a:gd name="adj" fmla="val 65390"/>
            </a:avLst>
          </a:prstGeom>
          <a:solidFill>
            <a:srgbClr val="1E5A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8726" y="23080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填空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025426" y="2282726"/>
            <a:ext cx="304800" cy="155377"/>
          </a:xfrm>
          <a:prstGeom prst="roundRect">
            <a:avLst>
              <a:gd name="adj" fmla="val 65390"/>
            </a:avLst>
          </a:prstGeom>
          <a:solidFill>
            <a:srgbClr val="1E5A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01626" y="23080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368326" y="2282726"/>
            <a:ext cx="304800" cy="155377"/>
          </a:xfrm>
          <a:prstGeom prst="roundRect">
            <a:avLst>
              <a:gd name="adj" fmla="val 65390"/>
            </a:avLst>
          </a:prstGeom>
          <a:solidFill>
            <a:srgbClr val="1E5A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44526" y="23080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简答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1711226" y="2282726"/>
            <a:ext cx="304800" cy="155377"/>
          </a:xfrm>
          <a:prstGeom prst="roundRect">
            <a:avLst>
              <a:gd name="adj" fmla="val 65390"/>
            </a:avLst>
          </a:prstGeom>
          <a:solidFill>
            <a:srgbClr val="1E5A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87426" y="2308027"/>
            <a:ext cx="15544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编程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339626" y="2501503"/>
            <a:ext cx="1563439" cy="190500"/>
          </a:xfrm>
          <a:prstGeom prst="rect">
            <a:avLst/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8396" y="2549128"/>
            <a:ext cx="291465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60% 基础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1903065" y="2501503"/>
            <a:ext cx="781794" cy="190500"/>
          </a:xfrm>
          <a:prstGeom prst="rect">
            <a:avLst/>
          </a:prstGeom>
          <a:solidFill>
            <a:srgbClr val="60A5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51013" y="2549128"/>
            <a:ext cx="291465" cy="9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" dirty="0">
                <a:solidFill>
                  <a:srgbClr val="1739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 进阶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2684859" y="2501503"/>
            <a:ext cx="260598" cy="190500"/>
          </a:xfrm>
          <a:prstGeom prst="rect">
            <a:avLst/>
          </a:prstGeom>
          <a:solidFill>
            <a:srgbClr val="BFDB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84859" y="2501503"/>
            <a:ext cx="26581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" dirty="0">
                <a:solidFill>
                  <a:srgbClr val="1739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10% 挑战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228600" y="2942779"/>
            <a:ext cx="2827883" cy="2048321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626" y="3041154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339626" y="3285530"/>
            <a:ext cx="2605832" cy="449759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输入：知识点、题目数量、题型要求、难度分布、学生画像。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可选输入：刚生成的课件内容、历史错题、教师指定范围。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输出：结构化题目列表、标准答案、解析、评分规则、错因标签。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输出格式便于前端渲染，也便于 evaluation-service 自动评分。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识别训练目标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从画像中读取薄弱知识点、薄弱题型、近期错题和掌握度。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组合题型与难度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按基础、进阶、挑战比例配置题组，避免全难或全简单。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3269010" y="2106216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88060" y="2106216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生成题目与解析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3383310" y="2312491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生成题干、选项、答案、解析和易错提醒，并保持题目可作答。</a:t>
            </a:r>
            <a:endParaRPr lang="en-US" sz="590" dirty="0"/>
          </a:p>
        </p:txBody>
      </p:sp>
      <p:sp>
        <p:nvSpPr>
          <p:cNvPr id="49" name="Text 47"/>
          <p:cNvSpPr/>
          <p:nvPr/>
        </p:nvSpPr>
        <p:spPr>
          <a:xfrm>
            <a:off x="3269010" y="2502247"/>
            <a:ext cx="2605980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288060" y="2502247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310" y="2552998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审核与打回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3383310" y="2708523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审核智能体调用 audit_exercises 检查题目是否跑题、不可读、明显错误或存在安全/价值观风险；不通过则重新生成。</a:t>
            </a:r>
            <a:endParaRPr lang="en-US" sz="590" dirty="0"/>
          </a:p>
        </p:txBody>
      </p:sp>
      <p:sp>
        <p:nvSpPr>
          <p:cNvPr id="53" name="Text 51"/>
          <p:cNvSpPr/>
          <p:nvPr/>
        </p:nvSpPr>
        <p:spPr>
          <a:xfrm>
            <a:off x="3269010" y="2986534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288060" y="2986534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310" y="303728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作答后回流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383310" y="319281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评价服务评分，错题进入错题本，掌握度回写画像。</a:t>
            </a:r>
            <a:endParaRPr lang="en-US" sz="590" dirty="0"/>
          </a:p>
        </p:txBody>
      </p:sp>
      <p:sp>
        <p:nvSpPr>
          <p:cNvPr id="57" name="Text 55"/>
          <p:cNvSpPr/>
          <p:nvPr/>
        </p:nvSpPr>
        <p:spPr>
          <a:xfrm>
            <a:off x="6087517" y="971401"/>
            <a:ext cx="2827883" cy="2763441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智能体协作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198543" y="1314152"/>
            <a:ext cx="2605832" cy="780752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agent：提供薄弱点、速度、常错类型和难度承受度。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agent：提供课件内容，保证练习与刚学内容一致。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知识库/图谱 agent：提供概念边界和前置依赖，避免题目越界。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 agent：负责题组设计、题目生成、答案解析和结构化输出。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 agent：检查题目是否严重偏离用户需求，不合格时将原因反馈给习题 agent 重生成。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评价服务：完成自动评分、错因归类、错题沉淀和画像更新。</a:t>
            </a:r>
            <a:endParaRPr lang="en-US" sz="590" dirty="0"/>
          </a:p>
        </p:txBody>
      </p:sp>
      <p:sp>
        <p:nvSpPr>
          <p:cNvPr id="60" name="Text 58"/>
          <p:cNvSpPr/>
          <p:nvPr/>
        </p:nvSpPr>
        <p:spPr>
          <a:xfrm>
            <a:off x="6087517" y="3811042"/>
            <a:ext cx="2827883" cy="118005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98543" y="390941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功能价值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6198543" y="4153793"/>
            <a:ext cx="2605832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217593" y="4153793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2843" y="420454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闭环训练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6312843" y="4360069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学什么生成什么题，做错什么更新什么画像，下一轮继续针对性强化。</a:t>
            </a:r>
            <a:endParaRPr lang="en-US" sz="590" dirty="0"/>
          </a:p>
        </p:txBody>
      </p:sp>
      <p:sp>
        <p:nvSpPr>
          <p:cNvPr id="66" name="Text 64"/>
          <p:cNvSpPr/>
          <p:nvPr/>
        </p:nvSpPr>
        <p:spPr>
          <a:xfrm>
            <a:off x="6198543" y="4549825"/>
            <a:ext cx="2605832" cy="342900"/>
          </a:xfrm>
          <a:prstGeom prst="roundRect">
            <a:avLst>
              <a:gd name="adj" fmla="val 33333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300043" y="4626025"/>
            <a:ext cx="245088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课件学习 -&gt; 习题训练 -&gt; 自动评分 -&gt; 错因归类 -&gt; 画像更新 -&gt; 下一轮资源/习题优化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智能问答系统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CFFA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让问答从“通用聊天”变成“懂学生、懂知识结构、懂学习路径”的教学助理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629221"/>
          </a:xfrm>
          <a:prstGeom prst="roundRect">
            <a:avLst>
              <a:gd name="adj" fmla="val 779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知识型问答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回答概念解释、例题思路、知识点区分、代码问题等即时疑问。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10184"/>
            <a:ext cx="2605832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760934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学习诊断型问答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1916460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不仅给答案，还解释为什么错、缺什么前置知识、下一步如何补。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106216"/>
            <a:ext cx="2605832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10621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15696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个性化解释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312491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同一问题会根据学生画像调整深度、语言风格、例子类型和推导粒度。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676823"/>
            <a:ext cx="2827883" cy="2314277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2775198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019574"/>
            <a:ext cx="2605832" cy="5432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输入：用户问题、会话 ID、当前知识点、学生答案或错误答案。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上下文：学习者画像、历史错题、学习路径、知识库片段、图谱依赖。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输出：直接回答、逐步解释、错因分析、关联资源、下一步建议。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结构化输出：student_response + structured_analysis，便于前端展示与后续反馈复用。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问题分类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判断是普通问答、学习诊断、错题解释、代码调试还是路径咨询。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检索与依赖分析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知识库提供 grounding；图谱判断是否缺前置概念。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3269010" y="2106216"/>
            <a:ext cx="2605980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88060" y="210621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画像注入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383310" y="2312491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根据学生基础、风格和目标调整表达方式。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3269010" y="2502247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2502247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2552998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生成回答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2708523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智能体整合多源上下文，先回答问题，再给学习建议。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2898279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2898279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2949029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结果沉淀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3104555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高频误解和错因可进入反馈分析，为后续资源和习题优化提供依据。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6087517" y="971401"/>
            <a:ext cx="2827883" cy="789980"/>
          </a:xfrm>
          <a:prstGeom prst="roundRect">
            <a:avLst>
              <a:gd name="adj" fmla="val 16076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调用的上下文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6198543" y="1314152"/>
            <a:ext cx="5078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61943" y="1339453"/>
            <a:ext cx="388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学习者画像</a:t>
            </a:r>
            <a:endParaRPr lang="en-US" sz="570" dirty="0"/>
          </a:p>
        </p:txBody>
      </p:sp>
      <p:sp>
        <p:nvSpPr>
          <p:cNvPr id="49" name="Text 47"/>
          <p:cNvSpPr/>
          <p:nvPr/>
        </p:nvSpPr>
        <p:spPr>
          <a:xfrm>
            <a:off x="6744444" y="1314152"/>
            <a:ext cx="5078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07845" y="1339453"/>
            <a:ext cx="388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当前知识点</a:t>
            </a:r>
            <a:endParaRPr lang="en-US" sz="570" dirty="0"/>
          </a:p>
        </p:txBody>
      </p:sp>
      <p:sp>
        <p:nvSpPr>
          <p:cNvPr id="51" name="Text 49"/>
          <p:cNvSpPr/>
          <p:nvPr/>
        </p:nvSpPr>
        <p:spPr>
          <a:xfrm>
            <a:off x="7290346" y="1314152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353746" y="1339453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历史错题</a:t>
            </a:r>
            <a:endParaRPr lang="en-US" sz="570" dirty="0"/>
          </a:p>
        </p:txBody>
      </p:sp>
      <p:sp>
        <p:nvSpPr>
          <p:cNvPr id="53" name="Text 51"/>
          <p:cNvSpPr/>
          <p:nvPr/>
        </p:nvSpPr>
        <p:spPr>
          <a:xfrm>
            <a:off x="7760047" y="1314152"/>
            <a:ext cx="5078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823448" y="1339453"/>
            <a:ext cx="388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知识库片段</a:t>
            </a:r>
            <a:endParaRPr lang="en-US" sz="570" dirty="0"/>
          </a:p>
        </p:txBody>
      </p:sp>
      <p:sp>
        <p:nvSpPr>
          <p:cNvPr id="55" name="Text 53"/>
          <p:cNvSpPr/>
          <p:nvPr/>
        </p:nvSpPr>
        <p:spPr>
          <a:xfrm>
            <a:off x="8305949" y="1314152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369350" y="1339453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路径阶段</a:t>
            </a:r>
            <a:endParaRPr lang="en-US" sz="570" dirty="0"/>
          </a:p>
        </p:txBody>
      </p:sp>
      <p:sp>
        <p:nvSpPr>
          <p:cNvPr id="57" name="Text 55"/>
          <p:cNvSpPr/>
          <p:nvPr/>
        </p:nvSpPr>
        <p:spPr>
          <a:xfrm>
            <a:off x="6198543" y="1507629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61943" y="1532930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图谱依赖</a:t>
            </a:r>
            <a:endParaRPr lang="en-US" sz="570" dirty="0"/>
          </a:p>
        </p:txBody>
      </p:sp>
      <p:sp>
        <p:nvSpPr>
          <p:cNvPr id="59" name="Text 57"/>
          <p:cNvSpPr/>
          <p:nvPr/>
        </p:nvSpPr>
        <p:spPr>
          <a:xfrm>
            <a:off x="6668244" y="1507629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731645" y="1532930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会话历史</a:t>
            </a:r>
            <a:endParaRPr lang="en-US" sz="570" dirty="0"/>
          </a:p>
        </p:txBody>
      </p:sp>
      <p:sp>
        <p:nvSpPr>
          <p:cNvPr id="61" name="Text 59"/>
          <p:cNvSpPr/>
          <p:nvPr/>
        </p:nvSpPr>
        <p:spPr>
          <a:xfrm>
            <a:off x="7137946" y="1507629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EAF2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01346" y="1532930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学习报告</a:t>
            </a:r>
            <a:endParaRPr lang="en-US" sz="570" dirty="0"/>
          </a:p>
        </p:txBody>
      </p:sp>
      <p:sp>
        <p:nvSpPr>
          <p:cNvPr id="63" name="Text 61"/>
          <p:cNvSpPr/>
          <p:nvPr/>
        </p:nvSpPr>
        <p:spPr>
          <a:xfrm>
            <a:off x="6087517" y="1837581"/>
            <a:ext cx="2827883" cy="2731145"/>
          </a:xfrm>
          <a:prstGeom prst="roundRect">
            <a:avLst>
              <a:gd name="adj" fmla="val 4650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98543" y="1935956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智能体协作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6198543" y="2180332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agent：决定解释深度和表达风格。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 agent：提供可信内容依据。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agent：判断前置知识缺口。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agent：生成教学式回答与结构化分析。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 agent：后续汇总问答中的共性误解。</a:t>
            </a:r>
            <a:endParaRPr lang="en-US" sz="590" dirty="0"/>
          </a:p>
        </p:txBody>
      </p:sp>
      <p:sp>
        <p:nvSpPr>
          <p:cNvPr id="66" name="Text 64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答辩表达：问答模块不是外挂聊天框，而是系统学习闭环中的“即时辅导入口”。</a:t>
            </a:r>
            <a:endParaRPr lang="en-US" sz="6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大小模型协作聊天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BBD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用路由策略在响应速度、回答质量和模型成本之间取得平衡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893987"/>
          </a:xfrm>
          <a:prstGeom prst="roundRect">
            <a:avLst>
              <a:gd name="adj" fmla="val 670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为什么需要大小模型协作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教育平台存在大量高频简单问题，如果全部交给大模型，会造成响应慢、成本高、资源浪费。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轻量链路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处理知识库命中明确、规则可回答、上下文较短的问题，优先保证速度和成本。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2605832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28272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33347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深度链路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89002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处理多轮对话、复杂推理、错因分析、个性化教学解释等需要强模型的问题。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941588"/>
            <a:ext cx="2827883" cy="2049512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3039963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路由判断依据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284339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问题长度、上下文轮数和推理复杂度。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知识库检索命中分数是否足够高。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是否涉及学习诊断、错因分析、路径建议。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是否需要结合画像生成个性化解释。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模型不可用时按 DeepSeek、Qwen、OpenAI 或降级链路兜底。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接收对话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 session、用户问题、当前学习上下文和历史轮次。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复杂度识别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根据关键字、长度、检索命中和任务类型判断轻量或深度处理。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3269010" y="2106216"/>
            <a:ext cx="2605980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88060" y="210621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选择模型链路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383310" y="2312491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简单问题走轻量模型/检索模板；复杂问题调用大模型并注入画像与知识依据。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3269010" y="259050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259050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264125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返回并记录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279677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输出回答，同时沉淀对话数据，为后续画像和反馈分析提供材料。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2986534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2986534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303728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异常降级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319281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当主模型不可用时切换备用 provider，保证问答服务不中断。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6087517" y="971401"/>
            <a:ext cx="2827883" cy="1679079"/>
          </a:xfrm>
          <a:prstGeom prst="roundRect">
            <a:avLst>
              <a:gd name="adj" fmla="val 7564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指标与价值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6198543" y="1314152"/>
            <a:ext cx="2605832" cy="555575"/>
          </a:xfrm>
          <a:prstGeom prst="roundRect">
            <a:avLst>
              <a:gd name="adj" fmla="val 20573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59924" y="1399877"/>
            <a:ext cx="248306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60-70%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59924" y="1679228"/>
            <a:ext cx="248306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58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简单场景下模型调用成本可下降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6198543" y="1933129"/>
            <a:ext cx="2605832" cy="555575"/>
          </a:xfrm>
          <a:prstGeom prst="roundRect">
            <a:avLst>
              <a:gd name="adj" fmla="val 20573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59924" y="2018854"/>
            <a:ext cx="248306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&lt; 2s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59924" y="2298204"/>
            <a:ext cx="248306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58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高频问题可获得更快响应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>
            <a:off x="6087517" y="2726680"/>
            <a:ext cx="2827883" cy="1842046"/>
          </a:xfrm>
          <a:prstGeom prst="roundRect">
            <a:avLst>
              <a:gd name="adj" fmla="val 6894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198543" y="2825055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协作关系</a:t>
            </a:r>
            <a:endParaRPr lang="en-US" sz="940" dirty="0"/>
          </a:p>
        </p:txBody>
      </p:sp>
      <p:sp>
        <p:nvSpPr>
          <p:cNvPr id="55" name="Text 53"/>
          <p:cNvSpPr/>
          <p:nvPr/>
        </p:nvSpPr>
        <p:spPr>
          <a:xfrm>
            <a:off x="6198543" y="3069431"/>
            <a:ext cx="2605832" cy="449759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agent 发起对话处理并整合上下文。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 agent 提供检索命中，辅助路由判断。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 决定是否需要个性化深度解释。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LLMFactory 管理多 provider 降级与统一调用。</a:t>
            </a:r>
            <a:endParaRPr lang="en-US" sz="590" dirty="0"/>
          </a:p>
        </p:txBody>
      </p:sp>
      <p:sp>
        <p:nvSpPr>
          <p:cNvPr id="56" name="Text 54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答辩表达：大小模型协作不是简单换模型，而是把不同问题分配给合适成本和能力的推理链路。</a:t>
            </a:r>
            <a:endParaRPr lang="en-US" sz="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学习路径规划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CFFA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把画像、图谱和评价结果转化成可执行的阶段化学习路线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805732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解决什么问题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学生知道要学某个知识点，但不知道先补什么、每天做什么、什么时候复习。本功能把目标拆成阶段任务。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规划结果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输出阶段目标、每日任务、推荐资源、练习安排、复习节点和预计完成时间。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2605832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28272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33347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动态调整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89002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当评价结果显示掌握度不足时，路径会延长复习或回退到前置知识。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853333"/>
            <a:ext cx="2827883" cy="2137767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2951708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196084"/>
            <a:ext cx="2605832" cy="449759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输入：知识点、学科、每日可用时间、目标期限、学生画像。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约束：教师指定教学范围、知识图谱前置依赖、资源可用情况。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输出：阶段路线、每日任务、学习材料、练习任务、复盘节点。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持久化：路径版本、完成状态、任务进度和调整原因。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三阶段路径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2605980" cy="388293"/>
          </a:xfrm>
          <a:prstGeom prst="roundRect">
            <a:avLst>
              <a:gd name="adj" fmla="val 26166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4735" y="1387078"/>
            <a:ext cx="248322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阶段一：概念构建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354735" y="1542604"/>
            <a:ext cx="2483221" cy="869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5"/>
              </a:lnSpc>
              <a:buNone/>
            </a:pPr>
            <a:r>
              <a:rPr lang="en-US" sz="58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根据图谱依赖先补前置知识，再学习核心概念，解决“先学什么”。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3269010" y="1765846"/>
            <a:ext cx="2605980" cy="388293"/>
          </a:xfrm>
          <a:prstGeom prst="roundRect">
            <a:avLst>
              <a:gd name="adj" fmla="val 26166"/>
            </a:avLst>
          </a:prstGeom>
          <a:solidFill>
            <a:srgbClr val="FFF7ED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4735" y="1838771"/>
            <a:ext cx="248322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阶段二：练习强化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354735" y="1994297"/>
            <a:ext cx="2483221" cy="869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5"/>
              </a:lnSpc>
              <a:buNone/>
            </a:pPr>
            <a:r>
              <a:rPr lang="en-US" sz="58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结合画像薄弱点和课件内容安排训练，解决“练哪里、练多少”。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3269010" y="2217539"/>
            <a:ext cx="2605980" cy="388293"/>
          </a:xfrm>
          <a:prstGeom prst="roundRect">
            <a:avLst>
              <a:gd name="adj" fmla="val 261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54735" y="2290465"/>
            <a:ext cx="248322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阶段三：复盘提升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354735" y="2445990"/>
            <a:ext cx="2483221" cy="869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5"/>
              </a:lnSpc>
              <a:buNone/>
            </a:pPr>
            <a:r>
              <a:rPr lang="en-US" sz="58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结合评价报告查漏补缺，生成复习任务和下一阶段建议。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3269010" y="2669232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88060" y="2669232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310" y="271998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路径不是静态计划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383310" y="287550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它会根据作答结果、问答记录、资源完成情况持续修正。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6087517" y="971401"/>
            <a:ext cx="2827883" cy="259571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智能体协作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198543" y="1314152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agent：提供学习速度、目标导向、基础水平和时间承受度。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agent：提供前置依赖和知识点先后关系。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知识库/资源 agent：提供可用学习材料和推荐资源。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评价服务：提供掌握度、错题趋势和是否需要回退复习。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agent：整合以上信息，生成阶段化学习路线。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6087517" y="3643313"/>
            <a:ext cx="2827883" cy="925413"/>
          </a:xfrm>
          <a:prstGeom prst="roundRect">
            <a:avLst>
              <a:gd name="adj" fmla="val 13724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98543" y="3741688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功能价值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6198543" y="3986064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217593" y="3986064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2843" y="4036814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从分析到行动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312843" y="4192339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画像告诉系统“学生是什么状态”，路径规划告诉学生“接下来具体怎么做”。</a:t>
            </a:r>
            <a:endParaRPr lang="en-US" sz="590" dirty="0"/>
          </a:p>
        </p:txBody>
      </p:sp>
      <p:sp>
        <p:nvSpPr>
          <p:cNvPr id="47" name="Text 45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答辩表达：路径规划是个性化教学落地的执行层，把多智能体分析结果变成日程和任务。</a:t>
            </a:r>
            <a:endParaRPr lang="en-US" sz="6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知识图谱 - 结构化知识支撑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CFFA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Neo4j 表达知识点依赖、资源关联和推荐顺序，为生成、问答和路径规划提供结构依据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2623096"/>
          </a:xfrm>
          <a:prstGeom prst="roundRect">
            <a:avLst>
              <a:gd name="adj" fmla="val 4842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表示知识结构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用节点表示知识点、课程资源和学习活动，用边表示前置依赖、推荐顺序和资源关联。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支撑智能推理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在资源生成、问答解释和路径规划前，先判断学生是否缺少前置知识，避免跳过基础直接讲难点。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2605832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28272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33347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可视化学习地图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89002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前端用 vis-network 展示知识点网络，让学生知道当前学习位置、相邻概念和后续路线。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339626" y="2767013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2552" y="282728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DEPENDS_ON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12552" y="297328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前置依赖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1667917" y="2767013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40843" y="282728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RECOMMENDS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740843" y="297328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后续推荐</a:t>
            </a:r>
            <a:endParaRPr lang="en-US" sz="520" dirty="0"/>
          </a:p>
        </p:txBody>
      </p:sp>
      <p:sp>
        <p:nvSpPr>
          <p:cNvPr id="26" name="Text 24"/>
          <p:cNvSpPr/>
          <p:nvPr/>
        </p:nvSpPr>
        <p:spPr>
          <a:xfrm>
            <a:off x="339626" y="315694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2552" y="321721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ASSOCIATED_WITH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12552" y="336321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资源关联</a:t>
            </a:r>
            <a:endParaRPr lang="en-US" sz="520" dirty="0"/>
          </a:p>
        </p:txBody>
      </p:sp>
      <p:sp>
        <p:nvSpPr>
          <p:cNvPr id="29" name="Text 27"/>
          <p:cNvSpPr/>
          <p:nvPr/>
        </p:nvSpPr>
        <p:spPr>
          <a:xfrm>
            <a:off x="1667917" y="315694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40843" y="321721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MASTERED_BY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740843" y="336321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掌握状态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228600" y="3670697"/>
            <a:ext cx="2827883" cy="1320403"/>
          </a:xfrm>
          <a:prstGeom prst="roundRect">
            <a:avLst>
              <a:gd name="adj" fmla="val 9618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626" y="3769072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339626" y="4013448"/>
            <a:ext cx="2605832" cy="636687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输入：知识点名称、学科、前置关系、课件内容、资源元数据、评价结果。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图谱查询：前置知识、关联知识点、推荐路径、已关联资源。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可视化输出：节点、边、分组、状态、推荐顺序和高亮路径。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下游输出：传给资源、问答和路径智能体的 dependencies / related_resources。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知识点标准化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统一知识点命名、学科归属和层级信息，减少同义词造成的重复节点。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关系构建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根据教学资源、课程结构和生成内容抽取依赖关系与资源关联。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3269010" y="2106216"/>
            <a:ext cx="2605980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88060" y="210621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查询推理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3383310" y="2312491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为路径规划提供学习顺序，为问答提供前置解释，为资源生成提供结构约束。</a:t>
            </a:r>
            <a:endParaRPr lang="en-US" sz="590" dirty="0"/>
          </a:p>
        </p:txBody>
      </p:sp>
      <p:sp>
        <p:nvSpPr>
          <p:cNvPr id="49" name="Text 47"/>
          <p:cNvSpPr/>
          <p:nvPr/>
        </p:nvSpPr>
        <p:spPr>
          <a:xfrm>
            <a:off x="3269010" y="259050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288060" y="259050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310" y="264125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状态融合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3383310" y="279677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结合评价结果标记掌握、薄弱和待复习知识点。</a:t>
            </a:r>
            <a:endParaRPr lang="en-US" sz="590" dirty="0"/>
          </a:p>
        </p:txBody>
      </p:sp>
      <p:sp>
        <p:nvSpPr>
          <p:cNvPr id="53" name="Text 51"/>
          <p:cNvSpPr/>
          <p:nvPr/>
        </p:nvSpPr>
        <p:spPr>
          <a:xfrm>
            <a:off x="3269010" y="2986534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288060" y="2986534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310" y="303728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前端展示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383310" y="319281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输出可视化数据，让学生和教师都能看到知识网络与学习位置。</a:t>
            </a:r>
            <a:endParaRPr lang="en-US" sz="590" dirty="0"/>
          </a:p>
        </p:txBody>
      </p:sp>
      <p:sp>
        <p:nvSpPr>
          <p:cNvPr id="57" name="Text 55"/>
          <p:cNvSpPr/>
          <p:nvPr/>
        </p:nvSpPr>
        <p:spPr>
          <a:xfrm>
            <a:off x="6087517" y="971401"/>
            <a:ext cx="2827883" cy="2249537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智能体协作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198543" y="1314152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agent：查询依赖、推荐后续知识点、输出可视化结构。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agent：生成课件后把知识点和资源关系同步回图谱。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agent：用 DEPENDS_ON 确定“先学什么、后学什么”。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agent：发现学生缺前置知识时，先解释基础再回答问题。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评价服务：把掌握度变化回写到知识点状态中。</a:t>
            </a:r>
            <a:endParaRPr lang="en-US" sz="590" dirty="0"/>
          </a:p>
        </p:txBody>
      </p:sp>
      <p:sp>
        <p:nvSpPr>
          <p:cNvPr id="60" name="Text 58"/>
          <p:cNvSpPr/>
          <p:nvPr/>
        </p:nvSpPr>
        <p:spPr>
          <a:xfrm>
            <a:off x="6087517" y="3297138"/>
            <a:ext cx="2827883" cy="1271588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98543" y="3395514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功能价值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6198543" y="363988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217593" y="363988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2843" y="3690640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让生成有结构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6312843" y="384616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图谱把大模型输出约束在合理的知识先后顺序里，增强教学逻辑和可解释性。</a:t>
            </a:r>
            <a:endParaRPr lang="en-US" sz="590" dirty="0"/>
          </a:p>
        </p:txBody>
      </p:sp>
      <p:sp>
        <p:nvSpPr>
          <p:cNvPr id="66" name="Text 64"/>
          <p:cNvSpPr/>
          <p:nvPr/>
        </p:nvSpPr>
        <p:spPr>
          <a:xfrm>
            <a:off x="6198543" y="4124176"/>
            <a:ext cx="2605832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300043" y="4200376"/>
            <a:ext cx="2450887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典型链路：目标知识点 -&gt; 查询前置依赖 -&gt; 判断画像掌握度 -&gt; 推荐补齐资源 -&gt; 生成路径/问答/课件。</a:t>
            </a:r>
            <a:endParaRPr lang="en-US" sz="610" dirty="0"/>
          </a:p>
        </p:txBody>
      </p:sp>
      <p:sp>
        <p:nvSpPr>
          <p:cNvPr id="68" name="Text 66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答辩表达：知识图谱是系统的结构化知识骨架，让个性化生成不只“会写”，还“讲得有顺序”。</a:t>
            </a:r>
            <a:endParaRPr lang="en-US" sz="6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学习评价与报告 - 数据回流画像的闭环枢纽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FD6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把作答结果、错题记录和学习趋势变成下一轮智能体协作的依据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2057995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即时评分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客观题自动判分，主观题和编程题通过 LLM 语义评分，输出分数、解析和改进建议。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错题沉淀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记录错题、错因、知识点、题型和时间，形成长期错误画像。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194471"/>
            <a:ext cx="2605832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194471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245221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报告生成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00746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按阶段、月度和综合维度输出掌握度、趋势、薄弱点和下一步建议。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339626" y="2590502"/>
            <a:ext cx="834777" cy="340519"/>
          </a:xfrm>
          <a:prstGeom prst="roundRect">
            <a:avLst>
              <a:gd name="adj" fmla="val 29837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2759" y="2650778"/>
            <a:ext cx="72851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阶段报告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392759" y="2796778"/>
            <a:ext cx="728511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"/>
              </a:lnSpc>
              <a:buNone/>
            </a:pPr>
            <a:r>
              <a:rPr lang="en-US" sz="5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章节/知识点</a:t>
            </a:r>
            <a:endParaRPr lang="en-US" sz="530" dirty="0"/>
          </a:p>
        </p:txBody>
      </p:sp>
      <p:sp>
        <p:nvSpPr>
          <p:cNvPr id="23" name="Text 21"/>
          <p:cNvSpPr/>
          <p:nvPr/>
        </p:nvSpPr>
        <p:spPr>
          <a:xfrm>
            <a:off x="1225153" y="2590502"/>
            <a:ext cx="834777" cy="340519"/>
          </a:xfrm>
          <a:prstGeom prst="roundRect">
            <a:avLst>
              <a:gd name="adj" fmla="val 29837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78286" y="2650778"/>
            <a:ext cx="72851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月度报告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78286" y="2796778"/>
            <a:ext cx="728511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"/>
              </a:lnSpc>
              <a:buNone/>
            </a:pPr>
            <a:r>
              <a:rPr lang="en-US" sz="5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趋势变化</a:t>
            </a:r>
            <a:endParaRPr lang="en-US" sz="530" dirty="0"/>
          </a:p>
        </p:txBody>
      </p:sp>
      <p:sp>
        <p:nvSpPr>
          <p:cNvPr id="26" name="Text 24"/>
          <p:cNvSpPr/>
          <p:nvPr/>
        </p:nvSpPr>
        <p:spPr>
          <a:xfrm>
            <a:off x="2110680" y="2590502"/>
            <a:ext cx="834777" cy="340519"/>
          </a:xfrm>
          <a:prstGeom prst="roundRect">
            <a:avLst>
              <a:gd name="adj" fmla="val 29837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63814" y="2650778"/>
            <a:ext cx="72851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68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综合报告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163814" y="2796778"/>
            <a:ext cx="728511" cy="73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"/>
              </a:lnSpc>
              <a:buNone/>
            </a:pPr>
            <a:r>
              <a:rPr lang="en-US" sz="5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整体诊断</a:t>
            </a:r>
            <a:endParaRPr lang="en-US" sz="530" dirty="0"/>
          </a:p>
        </p:txBody>
      </p:sp>
      <p:sp>
        <p:nvSpPr>
          <p:cNvPr id="29" name="Text 27"/>
          <p:cNvSpPr/>
          <p:nvPr/>
        </p:nvSpPr>
        <p:spPr>
          <a:xfrm>
            <a:off x="228600" y="3105596"/>
            <a:ext cx="2827883" cy="1885504"/>
          </a:xfrm>
          <a:prstGeom prst="roundRect">
            <a:avLst>
              <a:gd name="adj" fmla="val 6736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626" y="3203972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输入与输出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339626" y="3448348"/>
            <a:ext cx="2605832" cy="5432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输入：题目、学生答案、标准答案、题型、知识点、学生 ID。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评分输出：得分、是否正确、解析、错因、建议、置信说明。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报告输出：掌握度变化、薄弱知识点、学习趋势、错题分布。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回流输出：更新画像中的 mastery_score、weakness_hint、errorPreference。</a:t>
            </a:r>
            <a:endParaRPr lang="en-US" sz="590" dirty="0"/>
          </a:p>
        </p:txBody>
      </p:sp>
      <p:sp>
        <p:nvSpPr>
          <p:cNvPr id="32" name="Text 30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执行流程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答案归一化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 T/F、对/错、大小写、空格等常见格式做统一处理。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自动评分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客观题规则判分；主观题调用 LLM 判断语义相似度和答题完整性。</a:t>
            </a:r>
            <a:endParaRPr lang="en-US" sz="590" dirty="0"/>
          </a:p>
        </p:txBody>
      </p:sp>
      <p:sp>
        <p:nvSpPr>
          <p:cNvPr id="42" name="Text 40"/>
          <p:cNvSpPr/>
          <p:nvPr/>
        </p:nvSpPr>
        <p:spPr>
          <a:xfrm>
            <a:off x="3269010" y="2106216"/>
            <a:ext cx="2605980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288060" y="210621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错因识别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3383310" y="2312491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判断是概念混淆、计算错误、前置知识缺失、审题错误还是表达不完整。</a:t>
            </a:r>
            <a:endParaRPr lang="en-US" sz="590" dirty="0"/>
          </a:p>
        </p:txBody>
      </p:sp>
      <p:sp>
        <p:nvSpPr>
          <p:cNvPr id="46" name="Text 44"/>
          <p:cNvSpPr/>
          <p:nvPr/>
        </p:nvSpPr>
        <p:spPr>
          <a:xfrm>
            <a:off x="3269010" y="259050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288060" y="259050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310" y="264125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更新掌握度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3383310" y="279677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结合正确率、难度、时间和学习率更新知识点掌握度。</a:t>
            </a:r>
            <a:endParaRPr lang="en-US" sz="590" dirty="0"/>
          </a:p>
        </p:txBody>
      </p:sp>
      <p:sp>
        <p:nvSpPr>
          <p:cNvPr id="50" name="Text 48"/>
          <p:cNvSpPr/>
          <p:nvPr/>
        </p:nvSpPr>
        <p:spPr>
          <a:xfrm>
            <a:off x="3269010" y="2986534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288060" y="2986534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310" y="303728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生成报告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3383310" y="319281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汇总阶段表现，输出可执行建议，并交给反馈智能体做跨模块分析。</a:t>
            </a:r>
            <a:endParaRPr lang="en-US" sz="590" dirty="0"/>
          </a:p>
        </p:txBody>
      </p:sp>
      <p:sp>
        <p:nvSpPr>
          <p:cNvPr id="54" name="Text 52"/>
          <p:cNvSpPr/>
          <p:nvPr/>
        </p:nvSpPr>
        <p:spPr>
          <a:xfrm>
            <a:off x="6087517" y="971401"/>
            <a:ext cx="2827883" cy="259571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智能体协作</a:t>
            </a:r>
            <a:endParaRPr lang="en-US" sz="940" dirty="0"/>
          </a:p>
        </p:txBody>
      </p:sp>
      <p:sp>
        <p:nvSpPr>
          <p:cNvPr id="56" name="Text 54"/>
          <p:cNvSpPr/>
          <p:nvPr/>
        </p:nvSpPr>
        <p:spPr>
          <a:xfrm>
            <a:off x="6198543" y="1314152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 agent 生成可评测题目和标准答案。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evaluation-service 完成判分、错因归类和报告生成。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agent 接收评分结果并更新掌握度。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agent 根据评价结果决定是否回退或进入下一阶段。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 agent 综合评价、画像、路径和问答，生成统一建议。</a:t>
            </a:r>
            <a:endParaRPr lang="en-US" sz="590" dirty="0"/>
          </a:p>
        </p:txBody>
      </p:sp>
      <p:sp>
        <p:nvSpPr>
          <p:cNvPr id="57" name="Text 55"/>
          <p:cNvSpPr/>
          <p:nvPr/>
        </p:nvSpPr>
        <p:spPr>
          <a:xfrm>
            <a:off x="6087517" y="3643313"/>
            <a:ext cx="2827883" cy="925413"/>
          </a:xfrm>
          <a:prstGeom prst="roundRect">
            <a:avLst>
              <a:gd name="adj" fmla="val 13724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98543" y="3741688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闭环价值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198543" y="3986064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6217593" y="3986064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12843" y="4036814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不是终点，是起点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6312843" y="4192339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评价结果会驱动下一轮资源、习题、路径和问答调整，让系统越用越了解学生。</a:t>
            </a:r>
            <a:endParaRPr lang="en-US" sz="590" dirty="0"/>
          </a:p>
        </p:txBody>
      </p:sp>
      <p:sp>
        <p:nvSpPr>
          <p:cNvPr id="63" name="Text 61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答辩表达：评价模块是数据回流枢纽，负责把“学生做得怎么样”转化为“系统下一步怎么教”。</a:t>
            </a:r>
            <a:endParaRPr lang="en-US" sz="6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学习者画像与反馈联合智能体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FE8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画像负责“理解学生”，反馈负责“汇总证据并指导下一轮协作”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893987"/>
          </a:xfrm>
          <a:prstGeom prst="roundRect">
            <a:avLst>
              <a:gd name="adj" fmla="val 670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画像系统：个性化起点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动态学习者画像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把学生的知识基础、认知风格、错因模式、学习速度、兴趣方向和目标导向转成智能体共享上下文。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98439"/>
            <a:ext cx="2605832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849189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持续更新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2004715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画像不是注册时一次填写，而是随答题、问答、资源学习和报告结果不断更新。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282726"/>
            <a:ext cx="2605832" cy="433536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282726"/>
            <a:ext cx="0" cy="4335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33347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统一上下文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489002"/>
            <a:ext cx="2463638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资源、习题、路径、问答和反馈智能体都读取同一份画像，避免各模块判断割裂。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941588"/>
            <a:ext cx="2827883" cy="2049512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3039963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画像输入与输出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284339"/>
            <a:ext cx="2605832" cy="517922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输入：用户信息、目标描述、学习行为、答题结果、错题、问答记录。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六维度：knowledgeBase、cognitiveStyle、errorPreference、learningSpeed、interestDirection、goalOrientation。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输出：掌握度、薄弱提示、偏好摘要、profile_summary、agent_handoff。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反馈联合智能体：闭环汇总层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2605980" cy="43353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88060" y="1314152"/>
            <a:ext cx="0" cy="43353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汇总多源数据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383310" y="1520428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收集画像、图谱、路径、资源、习题、QA 和评价报告，形成统一证据上下文。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3269010" y="1798439"/>
            <a:ext cx="2605980" cy="433536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88060" y="1798439"/>
            <a:ext cx="0" cy="43353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310" y="1849189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交叉验证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383310" y="2004715"/>
            <a:ext cx="2463790" cy="176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检查不同来源是否指向同一薄弱点，例如图谱前置缺失与错题结果是否一致。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3269010" y="2282726"/>
            <a:ext cx="2605980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88060" y="228272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310" y="233347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发现冲突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383310" y="2489002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如果资源难度、路径阶段和掌握度不匹配，给出调整理由。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3269010" y="2678757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2678757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2729508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生成反馈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2885033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输出当前优势、核心短板、证据引用、下一步行动清单和风险提醒。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3074789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3074789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3125539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回写下一轮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3281065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反馈结果进入画像和协调器上下文，影响下一轮智能体选择和生成。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6087517" y="971401"/>
            <a:ext cx="2827883" cy="1170236"/>
          </a:xfrm>
          <a:prstGeom prst="roundRect">
            <a:avLst>
              <a:gd name="adj" fmla="val 10852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交叉分析示例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6198543" y="131415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71468" y="137442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7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 + 习题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6271468" y="152042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选择题薄弱 -&gt; 增加变式训练</a:t>
            </a:r>
            <a:endParaRPr lang="en-US" sz="520" dirty="0"/>
          </a:p>
        </p:txBody>
      </p:sp>
      <p:sp>
        <p:nvSpPr>
          <p:cNvPr id="50" name="Text 48"/>
          <p:cNvSpPr/>
          <p:nvPr/>
        </p:nvSpPr>
        <p:spPr>
          <a:xfrm>
            <a:off x="7526834" y="131415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99759" y="1374428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7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 + 评价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7599759" y="152042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前置正确率低 -&gt; 先补基础</a:t>
            </a:r>
            <a:endParaRPr lang="en-US" sz="520" dirty="0"/>
          </a:p>
        </p:txBody>
      </p:sp>
      <p:sp>
        <p:nvSpPr>
          <p:cNvPr id="53" name="Text 51"/>
          <p:cNvSpPr/>
          <p:nvPr/>
        </p:nvSpPr>
        <p:spPr>
          <a:xfrm>
            <a:off x="6198543" y="170408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71468" y="1764357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7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+ 知识库</a:t>
            </a:r>
            <a:endParaRPr lang="en-US" sz="670" dirty="0"/>
          </a:p>
        </p:txBody>
      </p:sp>
      <p:sp>
        <p:nvSpPr>
          <p:cNvPr id="55" name="Text 53"/>
          <p:cNvSpPr/>
          <p:nvPr/>
        </p:nvSpPr>
        <p:spPr>
          <a:xfrm>
            <a:off x="6271468" y="191035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问答误解 -&gt; 推荐易错文章</a:t>
            </a:r>
            <a:endParaRPr lang="en-US" sz="520" dirty="0"/>
          </a:p>
        </p:txBody>
      </p:sp>
      <p:sp>
        <p:nvSpPr>
          <p:cNvPr id="56" name="Text 54"/>
          <p:cNvSpPr/>
          <p:nvPr/>
        </p:nvSpPr>
        <p:spPr>
          <a:xfrm>
            <a:off x="7526834" y="1704082"/>
            <a:ext cx="1277541" cy="339179"/>
          </a:xfrm>
          <a:prstGeom prst="roundRect">
            <a:avLst>
              <a:gd name="adj" fmla="val 29955"/>
            </a:avLst>
          </a:prstGeom>
          <a:solidFill>
            <a:srgbClr val="EEF4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99759" y="1764357"/>
            <a:ext cx="1154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7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+ 画像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7599759" y="1910358"/>
            <a:ext cx="1154323" cy="72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"/>
              </a:lnSpc>
              <a:buNone/>
            </a:pPr>
            <a:r>
              <a:rPr lang="en-US" sz="52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课件偏难 -&gt; 切基础版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6087517" y="2217837"/>
            <a:ext cx="2827883" cy="2350889"/>
          </a:xfrm>
          <a:prstGeom prst="roundRect">
            <a:avLst>
              <a:gd name="adj" fmla="val 5402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98543" y="2316212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对下游功能的作用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6198543" y="2560588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 agent：决定讲解深度、案例风格和课件结构。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 agent：决定难度、题型分布和薄弱点训练。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agent：决定学习节奏、任务量和阶段安排。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agent：决定解释粒度和是否先补前置概念。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 agent：把多个模块结果合成为下一轮可执行建议。</a:t>
            </a:r>
            <a:endParaRPr lang="en-US" sz="590" dirty="0"/>
          </a:p>
        </p:txBody>
      </p:sp>
      <p:sp>
        <p:nvSpPr>
          <p:cNvPr id="62" name="Text 60"/>
          <p:cNvSpPr/>
          <p:nvPr/>
        </p:nvSpPr>
        <p:spPr>
          <a:xfrm>
            <a:off x="6087517" y="4644926"/>
            <a:ext cx="2827883" cy="346174"/>
          </a:xfrm>
          <a:prstGeom prst="roundRect">
            <a:avLst>
              <a:gd name="adj" fmla="val 33018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189018" y="4721126"/>
            <a:ext cx="2677379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答辩表达：画像是共同记忆，反馈是闭环总结；二者共同决定系统能否持续变得更懂学生。</a:t>
            </a:r>
            <a:endParaRPr lang="en-US" sz="6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多角色前端界面 - 协作结果的最终呈现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CFFA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把多智能体输出转化为学生、教师、管理员都能理解和操作的工作台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2827883" cy="1629221"/>
          </a:xfrm>
          <a:prstGeom prst="roundRect">
            <a:avLst>
              <a:gd name="adj" fmla="val 7795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功能作用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2605832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26" y="1364903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453926" y="1520428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承接资源、习题、路径、问答、评价和画像结果，形成完整学习入口。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339626" y="1710184"/>
            <a:ext cx="2605832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26" y="1760934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教师端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53926" y="1916460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提供班级管理、学生洞察、教学范围设定、资源审核和教学计划干预。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39626" y="2106216"/>
            <a:ext cx="2605832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10621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26" y="2156966"/>
            <a:ext cx="24636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53926" y="2312491"/>
            <a:ext cx="2463638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负责用户角色、学科配置、系统参数、审计日志和平台运行秩序。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228600" y="2676823"/>
            <a:ext cx="2827883" cy="2314277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626" y="2775198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学生端页面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39626" y="3019574"/>
            <a:ext cx="2605832" cy="687288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仪表盘：掌握度、趋势、推荐任务和今日学习概览。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学习路径：阶段目标、每日任务、完成进度和复盘安排。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资源中心：查看个性化课件、讲义和推荐学习材料。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习题练习：在线作答、即时评分、答案解析和错题沉淀。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智能问答：结合画像和知识上下文进行教学式答疑。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报告与画像：查看学习报告、错题本和画像分析结果。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3157984" y="971401"/>
            <a:ext cx="2828032" cy="4019699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69010" y="1069777"/>
            <a:ext cx="26581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前端如何承接智能体结果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269010" y="1314152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88060" y="1314152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310" y="1364903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资源生成结果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383310" y="1520428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以课件卡片、详情页、Markdown 渲染和资源列表呈现。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3269010" y="1710184"/>
            <a:ext cx="2605980" cy="345281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88060" y="1710184"/>
            <a:ext cx="0" cy="34528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310" y="1760934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路径规划结果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383310" y="1916460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以阶段路线、任务清单、进度条和每日计划呈现。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3269010" y="2106216"/>
            <a:ext cx="2605980" cy="345281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88060" y="2106216"/>
            <a:ext cx="0" cy="34528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310" y="2156966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评价反馈结果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383310" y="2312491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以分数、解析、错题本、报告图表和行动建议呈现。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3269010" y="2502247"/>
            <a:ext cx="2605980" cy="34528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88060" y="2502247"/>
            <a:ext cx="0" cy="34528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310" y="2552998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知识图谱结果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383310" y="2708523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通过可交互图谱展示前置依赖、关联知识点和推荐学习顺序。</a:t>
            </a:r>
            <a:endParaRPr lang="en-US" sz="590" dirty="0"/>
          </a:p>
        </p:txBody>
      </p:sp>
      <p:sp>
        <p:nvSpPr>
          <p:cNvPr id="41" name="Text 39"/>
          <p:cNvSpPr/>
          <p:nvPr/>
        </p:nvSpPr>
        <p:spPr>
          <a:xfrm>
            <a:off x="3269010" y="2898279"/>
            <a:ext cx="2605980" cy="345281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88060" y="2898279"/>
            <a:ext cx="0" cy="34528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310" y="2949029"/>
            <a:ext cx="24637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画像结果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310" y="3104555"/>
            <a:ext cx="2463790" cy="88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"/>
              </a:lnSpc>
              <a:buNone/>
            </a:pPr>
            <a:r>
              <a:rPr lang="en-US" sz="59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用可解释维度展示学生状态，而不是黑盒式推荐。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6087517" y="971401"/>
            <a:ext cx="2827883" cy="2820591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8543" y="106977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系统协作关系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6198543" y="1314152"/>
            <a:ext cx="2605832" cy="568523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前端通过 Axios 对接多个 FastAPI 微服务。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Pinia 保存用户认证状态和角色信息。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Router 根据 student/teacher/admin 做角色路由守卫。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学生端消费 AI 结果，教师端设置边界，管理端保障权限与配置。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前端让智能体输出从“后台数据”变成“可操作学习流程”。</a:t>
            </a:r>
            <a:endParaRPr lang="en-US" sz="590" dirty="0"/>
          </a:p>
        </p:txBody>
      </p:sp>
      <p:sp>
        <p:nvSpPr>
          <p:cNvPr id="48" name="Text 46"/>
          <p:cNvSpPr/>
          <p:nvPr/>
        </p:nvSpPr>
        <p:spPr>
          <a:xfrm>
            <a:off x="6087517" y="3868192"/>
            <a:ext cx="2827883" cy="797421"/>
          </a:xfrm>
          <a:prstGeom prst="roundRect">
            <a:avLst>
              <a:gd name="adj" fmla="val 15926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98543" y="3966567"/>
            <a:ext cx="265794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技术组成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6198543" y="4210943"/>
            <a:ext cx="2605832" cy="330994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TypeScript + Element Plus。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Pinia + Vue Router + Axios。</a:t>
            </a:r>
            <a:endParaRPr lang="en-US" sz="590" dirty="0"/>
          </a:p>
          <a:p>
            <a:pPr marL="76200" indent="-76200" algn="l">
              <a:lnSpc>
                <a:spcPts val="735"/>
              </a:lnSpc>
              <a:spcAft>
                <a:spcPts val="200"/>
              </a:spcAft>
              <a:buSzPct val="100000"/>
              <a:buChar char="•"/>
            </a:pPr>
            <a:r>
              <a:rPr lang="en-US" sz="59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vis-network 展示知识图谱。</a:t>
            </a:r>
            <a:endParaRPr lang="en-US" sz="590" dirty="0"/>
          </a:p>
        </p:txBody>
      </p:sp>
      <p:sp>
        <p:nvSpPr>
          <p:cNvPr id="51" name="Text 49"/>
          <p:cNvSpPr/>
          <p:nvPr/>
        </p:nvSpPr>
        <p:spPr>
          <a:xfrm>
            <a:off x="6087517" y="4741813"/>
            <a:ext cx="2827883" cy="249287"/>
          </a:xfrm>
          <a:prstGeom prst="roundRect">
            <a:avLst>
              <a:gd name="adj" fmla="val 45851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89018" y="4818013"/>
            <a:ext cx="2677379" cy="968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答辩表达：前端不是壳子，而是多智能体协作结果的产品化呈现层。</a:t>
            </a:r>
            <a:endParaRPr lang="en-US" sz="6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445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25401"/>
            <a:ext cx="91440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77701"/>
            <a:ext cx="854964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技术亮点与未来展望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558701"/>
            <a:ext cx="85496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BBD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亮点不只是“用了大模型”，而是把大模型组织进可协作、可审核、可优化的学习系统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971401"/>
            <a:ext cx="4292650" cy="4019699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069777"/>
            <a:ext cx="415201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核心技术亮点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39626" y="1314152"/>
            <a:ext cx="4070598" cy="373707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8676" y="1314152"/>
            <a:ext cx="0" cy="373707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576" y="1377553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多智能体协作编排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66576" y="1533079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CoordinatorWorkflow 按意图选择 9 个智能体，支持异步队列分发和同步串行执行。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39626" y="1751261"/>
            <a:ext cx="4070598" cy="373707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8676" y="1751261"/>
            <a:ext cx="0" cy="37370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576" y="1814661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画像驱动全链路个性化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66576" y="1970187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六维画像贯穿资源、习题、路径、问答、评价和反馈流程。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39626" y="2188369"/>
            <a:ext cx="4070598" cy="373707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8676" y="2188369"/>
            <a:ext cx="0" cy="373707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576" y="2251770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+ 知识图谱双重增强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66576" y="2407295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ChromaDB 提供语义依据，Neo4j 提供依赖结构，降低纯模型生成不稳定性。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39626" y="2625477"/>
            <a:ext cx="4070598" cy="373707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8676" y="2625477"/>
            <a:ext cx="0" cy="37370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576" y="2688878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内容审核智能体 + 打回重生成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466576" y="2844403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审核课件和习题的主题匹配、学术正确性、可读性、价值观与安全风险；REJECT 后带原因重生成。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9626" y="3062585"/>
            <a:ext cx="4070598" cy="373707"/>
          </a:xfrm>
          <a:prstGeom prst="rect">
            <a:avLst/>
          </a:prstGeom>
          <a:solidFill>
            <a:srgbClr val="F0F9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8676" y="3062585"/>
            <a:ext cx="0" cy="373707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576" y="3125986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学习闭环自我优化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466576" y="3281511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评价结果回流画像，画像再驱动下一轮资源、习题和路径生成。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22750" y="971401"/>
            <a:ext cx="4292650" cy="4019699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9525">
            <a:solidFill>
              <a:srgbClr val="DDE8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3776" y="1069777"/>
            <a:ext cx="415201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4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未来发展方向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733776" y="1314152"/>
            <a:ext cx="4070598" cy="373707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52826" y="1314152"/>
            <a:ext cx="0" cy="373707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0727" y="1377553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更多学科与更细粒度追踪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860727" y="1533079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扩展知识库覆盖范围，支持知识点级掌握度预测和前置依赖判断。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33776" y="1751261"/>
            <a:ext cx="4070598" cy="373707"/>
          </a:xfrm>
          <a:prstGeom prst="rect">
            <a:avLst/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52826" y="1751261"/>
            <a:ext cx="0" cy="37370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0727" y="1814661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多模态资源生成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4860727" y="1970187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从文本课件扩展到图解、音频讲解、交互式可视化和课堂活动材料。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33776" y="2188369"/>
            <a:ext cx="4070598" cy="373707"/>
          </a:xfrm>
          <a:prstGeom prst="rect">
            <a:avLst/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52826" y="2188369"/>
            <a:ext cx="0" cy="373707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0727" y="2251770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教师协同增强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860727" y="2407295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强化教师审核、班级干预和教学计划嵌入，让 AI 推荐贴合真实课堂。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733776" y="2625477"/>
            <a:ext cx="4070598" cy="373707"/>
          </a:xfrm>
          <a:prstGeom prst="rect">
            <a:avLst/>
          </a:prstGeom>
          <a:solidFill>
            <a:srgbClr val="FFF1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752826" y="2625477"/>
            <a:ext cx="0" cy="37370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0727" y="2688878"/>
            <a:ext cx="393189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审核规则扩展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4860727" y="2844403"/>
            <a:ext cx="3931893" cy="91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进一步细化价值观、安全合规、年龄适配、题目可答性和教学目标一致性规则。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33776" y="3062585"/>
            <a:ext cx="4070598" cy="514350"/>
          </a:xfrm>
          <a:prstGeom prst="roundRect">
            <a:avLst>
              <a:gd name="adj" fmla="val 22222"/>
            </a:avLst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35277" y="3138785"/>
            <a:ext cx="394494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答辩表达重点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4835277" y="3306961"/>
            <a:ext cx="3944948" cy="1937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1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本项目不是让单个模型替代教学，而是用多智能体把画像、知识、生成、审核、练习、评价和反馈组织成完整闭环。</a:t>
            </a:r>
            <a:endParaRPr lang="en-US" sz="6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401"/>
          </a:xfrm>
          <a:prstGeom prst="rect">
            <a:avLst/>
          </a:prstGeom>
          <a:solidFill>
            <a:srgbClr val="10224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47589"/>
            <a:ext cx="9144000" cy="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215801"/>
            <a:ext cx="8498026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全系统智能体协作流程图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06301" y="618976"/>
            <a:ext cx="849802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800" dirty="0">
                <a:solidFill>
                  <a:srgbClr val="FFD6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从用户请求到画像更新：生成内容必须经过审核智能体把关，不合格则打回重生成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3901" y="1136452"/>
            <a:ext cx="1932831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3901" y="1160264"/>
            <a:ext cx="1932831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81969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901" y="1868239"/>
            <a:ext cx="1932831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663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915" y="1285577"/>
            <a:ext cx="177080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用户请求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334915" y="1476077"/>
            <a:ext cx="177080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学习目标、知识点、答疑、练习或全系统协作需求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2275582" y="1390352"/>
            <a:ext cx="12630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88257" y="1136452"/>
            <a:ext cx="1932980" cy="736550"/>
          </a:xfrm>
          <a:prstGeom prst="roundRect">
            <a:avLst>
              <a:gd name="adj" fmla="val 18967"/>
            </a:avLst>
          </a:prstGeom>
          <a:solidFill>
            <a:srgbClr val="102248"/>
          </a:solidFill>
          <a:ln w="9525">
            <a:solidFill>
              <a:srgbClr val="10224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69271" y="1247477"/>
            <a:ext cx="177095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CoordinatorWorkflow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569271" y="1437977"/>
            <a:ext cx="1770953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意图分析、智能体选择、执行顺序、冲突处理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4510088" y="1390352"/>
            <a:ext cx="12630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2763" y="1136452"/>
            <a:ext cx="1932831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22763" y="1160264"/>
            <a:ext cx="1932831" cy="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0831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2763" y="1868239"/>
            <a:ext cx="1932831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525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3777" y="1285577"/>
            <a:ext cx="177080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学习者画像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4803777" y="1476077"/>
            <a:ext cx="1770802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掌握度、风格、错因、速度、兴趣、目标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6744444" y="1390352"/>
            <a:ext cx="12630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57120" y="1136452"/>
            <a:ext cx="1932980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957120" y="1160264"/>
            <a:ext cx="1932980" cy="0"/>
          </a:xfrm>
          <a:prstGeom prst="line">
            <a:avLst/>
          </a:prstGeom>
          <a:noFill/>
          <a:ln w="47625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85337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7120" y="1868239"/>
            <a:ext cx="1932980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1882" y="113645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38133" y="1285577"/>
            <a:ext cx="177095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知识支撑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7038133" y="1476077"/>
            <a:ext cx="1770953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 RAG 检索 + 知识图谱依赖分析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253901" y="1987302"/>
            <a:ext cx="1365200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53901" y="2011114"/>
            <a:ext cx="13652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14339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901" y="2719090"/>
            <a:ext cx="1365200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8663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592" y="2136428"/>
            <a:ext cx="119181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路径规划智能体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340592" y="2326928"/>
            <a:ext cx="1191819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阶段路线、每日任务、复习节奏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1707952" y="1987302"/>
            <a:ext cx="1365349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707952" y="2011114"/>
            <a:ext cx="136534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8538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07952" y="2719090"/>
            <a:ext cx="1365349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12714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94641" y="2136428"/>
            <a:ext cx="1191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资源生成智能体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1794641" y="2326928"/>
            <a:ext cx="1191970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个性化课件、讲解材料、资源变体</a:t>
            </a:r>
            <a:endParaRPr lang="en-US" sz="630" dirty="0"/>
          </a:p>
        </p:txBody>
      </p:sp>
      <p:sp>
        <p:nvSpPr>
          <p:cNvPr id="47" name="Text 45"/>
          <p:cNvSpPr/>
          <p:nvPr/>
        </p:nvSpPr>
        <p:spPr>
          <a:xfrm>
            <a:off x="3162151" y="1987302"/>
            <a:ext cx="1365349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162151" y="2011114"/>
            <a:ext cx="1365349" cy="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2738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62151" y="2719090"/>
            <a:ext cx="1365349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6914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8841" y="2136428"/>
            <a:ext cx="1191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内容审核智能体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3248841" y="2326928"/>
            <a:ext cx="119197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价值观、安全性、主题匹配、质量检查；REJECT 打回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4616351" y="1987302"/>
            <a:ext cx="1365349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616351" y="2011114"/>
            <a:ext cx="136534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76938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16351" y="2719090"/>
            <a:ext cx="1365349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21113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3040" y="2136428"/>
            <a:ext cx="1191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习题生成智能体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4703040" y="2326928"/>
            <a:ext cx="1191970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题型分布、难度控制、薄弱点训练</a:t>
            </a:r>
            <a:endParaRPr lang="en-US" sz="630" dirty="0"/>
          </a:p>
        </p:txBody>
      </p:sp>
      <p:sp>
        <p:nvSpPr>
          <p:cNvPr id="61" name="Text 59"/>
          <p:cNvSpPr/>
          <p:nvPr/>
        </p:nvSpPr>
        <p:spPr>
          <a:xfrm>
            <a:off x="6070550" y="1987302"/>
            <a:ext cx="1365349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70550" y="2011114"/>
            <a:ext cx="136534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31137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70550" y="2719090"/>
            <a:ext cx="1365349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75313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57240" y="2136428"/>
            <a:ext cx="1191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智能体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6157240" y="2326928"/>
            <a:ext cx="1191970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答疑解释、错因分析、下一步建议</a:t>
            </a:r>
            <a:endParaRPr lang="en-US" sz="630" dirty="0"/>
          </a:p>
        </p:txBody>
      </p:sp>
      <p:sp>
        <p:nvSpPr>
          <p:cNvPr id="68" name="Text 66"/>
          <p:cNvSpPr/>
          <p:nvPr/>
        </p:nvSpPr>
        <p:spPr>
          <a:xfrm>
            <a:off x="7524750" y="1987302"/>
            <a:ext cx="1365349" cy="736550"/>
          </a:xfrm>
          <a:prstGeom prst="roundRect">
            <a:avLst>
              <a:gd name="adj" fmla="val 1896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7524750" y="2011114"/>
            <a:ext cx="1365349" cy="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85337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24750" y="2719090"/>
            <a:ext cx="1365349" cy="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29513" y="1987302"/>
            <a:ext cx="0" cy="736550"/>
          </a:xfrm>
          <a:prstGeom prst="line">
            <a:avLst/>
          </a:prstGeom>
          <a:noFill/>
          <a:ln w="9525">
            <a:solidFill>
              <a:srgbClr val="DDE8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11439" y="2136428"/>
            <a:ext cx="1191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022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评价反馈智能体</a:t>
            </a:r>
            <a:endParaRPr lang="en-US" sz="860" dirty="0"/>
          </a:p>
        </p:txBody>
      </p:sp>
      <p:sp>
        <p:nvSpPr>
          <p:cNvPr id="74" name="Text 72"/>
          <p:cNvSpPr/>
          <p:nvPr/>
        </p:nvSpPr>
        <p:spPr>
          <a:xfrm>
            <a:off x="7611439" y="2326928"/>
            <a:ext cx="1191970" cy="100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630" dirty="0">
                <a:solidFill>
                  <a:srgbClr val="5365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评分、报告、跨智能体综合反馈</a:t>
            </a:r>
            <a:endParaRPr lang="en-US" sz="630" dirty="0"/>
          </a:p>
        </p:txBody>
      </p:sp>
      <p:sp>
        <p:nvSpPr>
          <p:cNvPr id="75" name="Text 73"/>
          <p:cNvSpPr/>
          <p:nvPr/>
        </p:nvSpPr>
        <p:spPr>
          <a:xfrm>
            <a:off x="253901" y="2838152"/>
            <a:ext cx="4254550" cy="1323677"/>
          </a:xfrm>
          <a:prstGeom prst="roundRect">
            <a:avLst>
              <a:gd name="adj" fmla="val 11513"/>
            </a:avLst>
          </a:prstGeom>
          <a:solidFill>
            <a:srgbClr val="FFFFFF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03027" y="2961977"/>
            <a:ext cx="403542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协作数据如何流动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03027" y="3206353"/>
            <a:ext cx="3956298" cy="782687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995"/>
              </a:lnSpc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画像是个性化起点，所有生成类智能体都读取画像上下文。</a:t>
            </a:r>
            <a:endParaRPr lang="en-US" sz="700" dirty="0"/>
          </a:p>
          <a:p>
            <a:pPr marL="88900" indent="-88900" algn="l">
              <a:lnSpc>
                <a:spcPts val="995"/>
              </a:lnSpc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知识库和知识图谱提供内容依据与结构约束，减少空泛生成。</a:t>
            </a:r>
            <a:endParaRPr lang="en-US" sz="700" dirty="0"/>
          </a:p>
          <a:p>
            <a:pPr marL="88900" indent="-88900" algn="l">
              <a:lnSpc>
                <a:spcPts val="995"/>
              </a:lnSpc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资源和习题生成后先进入审核智能体；不符合需求或存在风险时打回重生成。</a:t>
            </a:r>
            <a:endParaRPr lang="en-US" sz="700" dirty="0"/>
          </a:p>
          <a:p>
            <a:pPr marL="88900" indent="-88900" algn="l">
              <a:lnSpc>
                <a:spcPts val="995"/>
              </a:lnSpc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通过审核的资源、习题、路径和问答产生学习过程数据，进入评价与报告。</a:t>
            </a:r>
            <a:endParaRPr lang="en-US" sz="700" dirty="0"/>
          </a:p>
          <a:p>
            <a:pPr marL="88900" indent="-88900" algn="l">
              <a:lnSpc>
                <a:spcPts val="995"/>
              </a:lnSpc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评价结果回流画像，触发下一轮更精确的资源、练习和路径优化。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635401" y="2838152"/>
            <a:ext cx="4254698" cy="1323677"/>
          </a:xfrm>
          <a:prstGeom prst="roundRect">
            <a:avLst>
              <a:gd name="adj" fmla="val 11513"/>
            </a:avLst>
          </a:prstGeom>
          <a:solidFill>
            <a:srgbClr val="FFFFFF"/>
          </a:solidFill>
          <a:ln w="9525">
            <a:solidFill>
              <a:srgbClr val="E4EC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784527" y="2961977"/>
            <a:ext cx="403557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闭环结果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84527" y="3206353"/>
            <a:ext cx="4035576" cy="255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1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系统不是一次性回答问题，而是持续观察学生表现，用新数据修正画像，再用新画像指导下一轮智能体协作。</a:t>
            </a:r>
            <a:endParaRPr lang="en-US" sz="710" dirty="0"/>
          </a:p>
        </p:txBody>
      </p:sp>
      <p:sp>
        <p:nvSpPr>
          <p:cNvPr id="81" name="Text 79"/>
          <p:cNvSpPr/>
          <p:nvPr/>
        </p:nvSpPr>
        <p:spPr>
          <a:xfrm>
            <a:off x="4784527" y="3563838"/>
            <a:ext cx="3956447" cy="474166"/>
          </a:xfrm>
          <a:prstGeom prst="roundRect">
            <a:avLst>
              <a:gd name="adj" fmla="val 32141"/>
            </a:avLst>
          </a:prstGeom>
          <a:solidFill>
            <a:srgbClr val="ECFDF3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921002" y="3674864"/>
            <a:ext cx="3757166" cy="252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5"/>
              </a:lnSpc>
              <a:buNone/>
            </a:pPr>
            <a:r>
              <a:rPr lang="en-US" sz="720" dirty="0">
                <a:solidFill>
                  <a:srgbClr val="1453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一句话概括：用户请求 -&gt; 协调器编排 -&gt; 多智能体生成与分析 -&gt; 评价反馈 -&gt; 画像更新 -&gt; 下一轮个性化。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63" y="253901"/>
            <a:ext cx="8653474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03847" y="707827"/>
            <a:ext cx="1117402" cy="631627"/>
          </a:xfrm>
          <a:prstGeom prst="roundRect">
            <a:avLst>
              <a:gd name="adj" fmla="val 1608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57342" y="796677"/>
            <a:ext cx="101041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257342" y="1117253"/>
            <a:ext cx="101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50" dirty="0">
                <a:solidFill>
                  <a:srgbClr val="B9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核心智能体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410099" y="707827"/>
            <a:ext cx="1117402" cy="631627"/>
          </a:xfrm>
          <a:prstGeom prst="roundRect">
            <a:avLst>
              <a:gd name="adj" fmla="val 1608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63594" y="796677"/>
            <a:ext cx="101041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63594" y="1117253"/>
            <a:ext cx="101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50" dirty="0">
                <a:solidFill>
                  <a:srgbClr val="B9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后端微服务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616351" y="707827"/>
            <a:ext cx="1117402" cy="631627"/>
          </a:xfrm>
          <a:prstGeom prst="roundRect">
            <a:avLst>
              <a:gd name="adj" fmla="val 1608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9846" y="796677"/>
            <a:ext cx="101041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9846" y="1117253"/>
            <a:ext cx="101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50" dirty="0">
                <a:solidFill>
                  <a:srgbClr val="B9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画像维度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822603" y="707827"/>
            <a:ext cx="1117402" cy="631627"/>
          </a:xfrm>
          <a:prstGeom prst="roundRect">
            <a:avLst>
              <a:gd name="adj" fmla="val 16085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76098" y="796677"/>
            <a:ext cx="101041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76098" y="1117253"/>
            <a:ext cx="101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50" dirty="0">
                <a:solidFill>
                  <a:srgbClr val="B9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学习闭环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30101" y="1466404"/>
            <a:ext cx="2760166" cy="3248620"/>
          </a:xfrm>
          <a:prstGeom prst="roundRect">
            <a:avLst>
              <a:gd name="adj" fmla="val 460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3926" y="1577429"/>
            <a:ext cx="256276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E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已完成能力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3926" y="18346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6852" y="1869430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20477" y="1834604"/>
            <a:ext cx="2290885" cy="198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画像、图谱、RAG、资源、习题、问答、路径、评价、反馈、审核和前端工作台已形成完整链路。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453926" y="21011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6852" y="2135981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477" y="2101155"/>
            <a:ext cx="2290885" cy="198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生成内容先经过知识依据与图谱结构约束，再由审核智能体做质量与风险把关。</a:t>
            </a:r>
            <a:endParaRPr lang="en-US" sz="610" dirty="0"/>
          </a:p>
        </p:txBody>
      </p:sp>
      <p:sp>
        <p:nvSpPr>
          <p:cNvPr id="23" name="Text 21"/>
          <p:cNvSpPr/>
          <p:nvPr/>
        </p:nvSpPr>
        <p:spPr>
          <a:xfrm>
            <a:off x="453926" y="23677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6852" y="2402532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0477" y="2367707"/>
            <a:ext cx="2290885" cy="198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评价结果回流画像，画像再驱动下一轮资源、习题、路径和问答优化。</a:t>
            </a:r>
            <a:endParaRPr lang="en-US" sz="610" dirty="0"/>
          </a:p>
        </p:txBody>
      </p:sp>
      <p:sp>
        <p:nvSpPr>
          <p:cNvPr id="26" name="Text 24"/>
          <p:cNvSpPr/>
          <p:nvPr/>
        </p:nvSpPr>
        <p:spPr>
          <a:xfrm>
            <a:off x="3191768" y="1466404"/>
            <a:ext cx="2760315" cy="3248620"/>
          </a:xfrm>
          <a:prstGeom prst="roundRect">
            <a:avLst>
              <a:gd name="adj" fmla="val 460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15593" y="1577429"/>
            <a:ext cx="256291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E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功能特色总览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15593" y="1834604"/>
            <a:ext cx="5078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78994" y="1859905"/>
            <a:ext cx="38862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个性化课件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3861495" y="1834604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24895" y="1859905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智能出题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4331196" y="1834604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94597" y="1859905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诊断问答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4800898" y="1834604"/>
            <a:ext cx="5840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64298" y="1859905"/>
            <a:ext cx="466344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大小模型路由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3315593" y="2028081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78994" y="2053382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3785295" y="2028081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48695" y="2053382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知识图谱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4254996" y="2028081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18397" y="2053382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错题报告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4724698" y="2028081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88098" y="2053382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六维画像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5194399" y="2028081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57800" y="2053382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联合反馈</a:t>
            </a:r>
            <a:endParaRPr lang="en-US" sz="580" dirty="0"/>
          </a:p>
        </p:txBody>
      </p:sp>
      <p:sp>
        <p:nvSpPr>
          <p:cNvPr id="46" name="Text 44"/>
          <p:cNvSpPr/>
          <p:nvPr/>
        </p:nvSpPr>
        <p:spPr>
          <a:xfrm>
            <a:off x="3315593" y="2221557"/>
            <a:ext cx="4316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78994" y="2246858"/>
            <a:ext cx="31089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内容审核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3785295" y="2221557"/>
            <a:ext cx="3554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848695" y="2246858"/>
            <a:ext cx="23317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教师端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4178796" y="2221557"/>
            <a:ext cx="355402" cy="155377"/>
          </a:xfrm>
          <a:prstGeom prst="roundRect">
            <a:avLst>
              <a:gd name="adj" fmla="val 65390"/>
            </a:avLst>
          </a:prstGeom>
          <a:solidFill>
            <a:srgbClr val="18326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242197" y="2246858"/>
            <a:ext cx="23317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6053584" y="1466404"/>
            <a:ext cx="2760315" cy="3248620"/>
          </a:xfrm>
          <a:prstGeom prst="roundRect">
            <a:avLst>
              <a:gd name="adj" fmla="val 460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77409" y="1577429"/>
            <a:ext cx="256291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E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未来方向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77409" y="18346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50335" y="1869430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43960" y="1834604"/>
            <a:ext cx="2291036" cy="198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扩展更多学科知识库，增强知识点级掌握度预测和长期学习行为建模。</a:t>
            </a:r>
            <a:endParaRPr lang="en-US" sz="610" dirty="0"/>
          </a:p>
        </p:txBody>
      </p:sp>
      <p:sp>
        <p:nvSpPr>
          <p:cNvPr id="57" name="Text 55"/>
          <p:cNvSpPr/>
          <p:nvPr/>
        </p:nvSpPr>
        <p:spPr>
          <a:xfrm>
            <a:off x="6177409" y="21011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50335" y="2135981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43960" y="2101155"/>
            <a:ext cx="2098548" cy="9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增加图解、语音讲解、交互式可视化等多模态资源生成能力。</a:t>
            </a:r>
            <a:endParaRPr lang="en-US" sz="610" dirty="0"/>
          </a:p>
        </p:txBody>
      </p:sp>
      <p:sp>
        <p:nvSpPr>
          <p:cNvPr id="60" name="Text 58"/>
          <p:cNvSpPr/>
          <p:nvPr/>
        </p:nvSpPr>
        <p:spPr>
          <a:xfrm>
            <a:off x="6177409" y="23677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563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50335" y="2402532"/>
            <a:ext cx="5829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443960" y="2367707"/>
            <a:ext cx="2215134" cy="9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10" dirty="0">
                <a:solidFill>
                  <a:srgbClr val="D2DE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强化教师协同审核与班级干预，让 AI 推荐更贴近真实教学计划。</a:t>
            </a:r>
            <a:endParaRPr lang="en-US" sz="610" dirty="0"/>
          </a:p>
        </p:txBody>
      </p:sp>
      <p:sp>
        <p:nvSpPr>
          <p:cNvPr id="63" name="Text 61"/>
          <p:cNvSpPr/>
          <p:nvPr/>
        </p:nvSpPr>
        <p:spPr>
          <a:xfrm>
            <a:off x="245263" y="4803874"/>
            <a:ext cx="865347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9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Q &amp; 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10826</Words>
  <Application>WPS 演示</Application>
  <PresentationFormat>On-screen Show (16:9)</PresentationFormat>
  <Paragraphs>1189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Segoe UI</vt:lpstr>
      <vt:lpstr>Segoe UI</vt:lpstr>
      <vt:lpstr>Segoe UI</vt:lpstr>
      <vt:lpstr>Arial</vt:lpstr>
      <vt:lpstr>Arial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基于大模型的个性化资源生成与学习多智能体系统</dc:title>
  <dc:creator>Multi-Agent Learning Platform</dc:creator>
  <dc:subject>项目功能说明</dc:subject>
  <cp:lastModifiedBy>。。。</cp:lastModifiedBy>
  <cp:revision>2</cp:revision>
  <dcterms:created xsi:type="dcterms:W3CDTF">2026-06-30T06:25:00Z</dcterms:created>
  <dcterms:modified xsi:type="dcterms:W3CDTF">2026-06-30T08:29:16Z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E238B62F2452452E944066D5A8BAA7F1_12</vt:lpwstr>
  </property>
</Properties>
</file>