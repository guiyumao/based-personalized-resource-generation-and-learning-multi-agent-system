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计算机组成原理个性化课件</a:t>
            </a:r>
          </a:p>
          <a:p>
            <a:pPr>
              <a:defRPr sz="2000"/>
            </a:pPr>
            <a:r>
              <a:t>课程导入</a:t>
            </a:r>
          </a:p>
          <a:p>
            <a:pPr>
              <a:defRPr sz="2000"/>
            </a:pPr>
            <a:r>
              <a:t>同学们，我们先来想一个场景：你正在用电脑写作业，突然卡住了，鼠标转圈圈。你心里想：“是CPU不够快？还是内存不够用？还是硬盘读写太慢？”——其实，这个问题背后，就是计算机组成原理要回答的核心问题：**计算机的各个部件是如何协同工作的？**</a:t>
            </a:r>
          </a:p>
          <a:p>
            <a:pPr>
              <a:defRPr sz="2000"/>
            </a:pPr>
            <a:r>
              <a:t>今天这节课，我们就从最基础的概念出发，把计算机的“骨架”和“血脉”理清楚。别担心，我会带着你一步步走，就像拼乐高一样，先认识零件，再理解它们怎么连起来。</a:t>
            </a:r>
          </a:p>
          <a:p>
            <a:pPr>
              <a:defRPr sz="2000"/>
            </a:pPr>
            <a:r>
              <a:t>学习目标</a:t>
            </a:r>
          </a:p>
          <a:p>
            <a:pPr>
              <a:defRPr sz="2000"/>
            </a:pPr>
            <a:r>
              <a:t>学完这节课，你应该能：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说出计算机的五大核心部件及其功能。</a:t>
            </a:r>
          </a:p>
          <a:p>
            <a:pPr>
              <a:defRPr sz="2000"/>
            </a:pPr>
            <a:r>
              <a:t>2. 解释指令在计算机中的执行过程（取指、译码、执行）。</a:t>
            </a:r>
          </a:p>
          <a:p>
            <a:pPr>
              <a:defRPr sz="2000"/>
            </a:pPr>
            <a:r>
              <a:t>3. 区分CPU、内存、I/O设备之间的数据流动关系。</a:t>
            </a:r>
          </a:p>
          <a:p>
            <a:pPr>
              <a:defRPr sz="2000"/>
            </a:pPr>
            <a:r>
              <a:t>4. 判断一个简单程序在计算机内部“先做什么、后做什么”的顺序。</a:t>
            </a:r>
          </a:p>
          <a:p>
            <a:pPr>
              <a:defRPr sz="2000"/>
            </a:pPr>
            <a:r>
              <a:t>你的当前学习情况</a:t>
            </a:r>
          </a:p>
          <a:p>
            <a:pPr>
              <a:defRPr sz="2000"/>
            </a:pPr>
            <a:r>
              <a:t>根据你的学习记录，你对计算机组成原理的掌握度大约在46%，近期答题正确率只有29%。这说明**你有一定基础，但知识还比较零散，缺少一条清晰的逻辑线**。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特别要注意的是，你最近在选择题和判断题上失分较多。比如有一道题问“指令执行的处理顺序”，你选了C，但正确答案是A。这说明你**对“先做什么、后做什么”这个流程还不够清晰**。还有一道判断题，你只记住了定义，但没有理解“什么时候能用、为什么能用、怎样检查”。所以这节课，我会重点帮你**把步骤拆开、把条件讲透**。</a:t>
            </a:r>
          </a:p>
          <a:p>
            <a:pPr>
              <a:defRPr sz="2000"/>
            </a:pPr>
            <a:r>
              <a:t>知识讲解</a:t>
            </a:r>
          </a:p>
          <a:p>
            <a:pPr>
              <a:defRPr sz="2000"/>
            </a:pPr>
            <a:r>
              <a:t>1. 计算机的五大核心部件</a:t>
            </a:r>
          </a:p>
          <a:p>
            <a:pPr>
              <a:defRPr sz="2000"/>
            </a:pPr>
            <a:r>
              <a:t>计算机就像一个小型工厂，有五个关键部门：</a:t>
            </a:r>
          </a:p>
          <a:p>
            <a:pPr>
              <a:defRPr sz="2000"/>
            </a:pPr>
            <a:r>
              <a:t>控制器**：工厂的“总指挥”，负责发号施令。</a:t>
            </a:r>
          </a:p>
          <a:p>
            <a:pPr>
              <a:defRPr sz="2000"/>
            </a:pPr>
            <a:r>
              <a:t>运算器**：工厂的“工人”，负责计算（加减乘除、逻辑判断）。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存储器**：工厂的“仓库”，存放原材料（数据）和图纸（程序）。</a:t>
            </a:r>
          </a:p>
          <a:p>
            <a:pPr>
              <a:defRPr sz="2000"/>
            </a:pPr>
            <a:r>
              <a:t>输入设备**：工厂的“收货口”，比如键盘、鼠标。</a:t>
            </a:r>
          </a:p>
          <a:p>
            <a:pPr>
              <a:defRPr sz="2000"/>
            </a:pPr>
            <a:r>
              <a:t>输出设备**：工厂的“发货口”，比如显示器、打印机。</a:t>
            </a:r>
          </a:p>
          <a:p>
            <a:pPr>
              <a:defRPr sz="2000"/>
            </a:pPr>
            <a:r>
              <a:t>&gt; **自检提问**：你正在用键盘打字，键盘属于哪个部件？——对，输入设备。</a:t>
            </a:r>
          </a:p>
          <a:p>
            <a:pPr>
              <a:defRPr sz="2000"/>
            </a:pPr>
            <a:r>
              <a:t>2. 指令的执行过程（重点）</a:t>
            </a:r>
          </a:p>
          <a:p>
            <a:pPr>
              <a:defRPr sz="2000"/>
            </a:pPr>
            <a:r>
              <a:t>计算机执行一条指令，就像你按照菜谱做一道菜：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**取指**：从“仓库”（内存）里拿出“菜谱”（指令）。</a:t>
            </a:r>
          </a:p>
          <a:p>
            <a:pPr>
              <a:defRPr sz="2000"/>
            </a:pPr>
            <a:r>
              <a:t>2. **译码**：“总指挥”（控制器）看懂菜谱上写的是什么（比如“加盐”）。</a:t>
            </a:r>
          </a:p>
          <a:p>
            <a:pPr>
              <a:defRPr sz="2000"/>
            </a:pPr>
            <a:r>
              <a:t>3. **执行**：“工人”（运算器）动手操作（比如把盐放进锅里）。</a:t>
            </a:r>
          </a:p>
          <a:p>
            <a:pPr>
              <a:defRPr sz="2000"/>
            </a:pPr>
            <a:r>
              <a:t>4. **回写**：把结果存回“仓库”。</a:t>
            </a:r>
          </a:p>
          <a:p>
            <a:pPr>
              <a:defRPr sz="2000"/>
            </a:pPr>
            <a:r>
              <a:t>关键顺序**：一定是先取指，再译码，最后执行。不能颠倒。你之前做错的那道选择题，就是混淆了“取指”和“译码”的顺序。</a:t>
            </a:r>
          </a:p>
          <a:p>
            <a:pPr>
              <a:defRPr sz="2000"/>
            </a:pPr>
            <a:r>
              <a:t>3. 数据流动的路径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数据在计算机里怎么走？举个例子：你按下键盘上的“A”键。</a:t>
            </a:r>
          </a:p>
          <a:p>
            <a:pPr>
              <a:defRPr sz="2000"/>
            </a:pPr>
            <a:r>
              <a:t>1. 键盘（输入设备）把“A”的编码发送到内存。</a:t>
            </a:r>
          </a:p>
          <a:p>
            <a:pPr>
              <a:defRPr sz="2000"/>
            </a:pPr>
            <a:r>
              <a:t>2. CPU从内存中读取这个编码。</a:t>
            </a:r>
          </a:p>
          <a:p>
            <a:pPr>
              <a:defRPr sz="2000"/>
            </a:pPr>
            <a:r>
              <a:t>3. CPU处理完后，把结果（比如“A”的显示数据）写回内存。</a:t>
            </a:r>
          </a:p>
          <a:p>
            <a:pPr>
              <a:defRPr sz="2000"/>
            </a:pPr>
            <a:r>
              <a:t>4. 显示器（输出设备）从内存读取数据，显示在屏幕上。</a:t>
            </a:r>
          </a:p>
          <a:p>
            <a:pPr>
              <a:defRPr sz="2000"/>
            </a:pPr>
            <a:r>
              <a:t>注意**：CPU不直接和输入/输出设备打交道，中间必须经过内存。这是很多判断题的陷阱。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重点难点突破</a:t>
            </a:r>
          </a:p>
          <a:p>
            <a:pPr>
              <a:defRPr sz="2000"/>
            </a:pPr>
            <a:r>
              <a:t>难点1：指令顺序 vs 数据顺序</a:t>
            </a:r>
          </a:p>
          <a:p>
            <a:pPr>
              <a:defRPr sz="2000"/>
            </a:pPr>
            <a:r>
              <a:t>很多同学会混淆“指令的执行顺序”和“数据的处理顺序”。比如：</a:t>
            </a:r>
          </a:p>
          <a:p>
            <a:pPr>
              <a:defRPr sz="2000"/>
            </a:pPr>
            <a:r>
              <a:t>指令顺序：先取指令A，再取指令B，不能反过来。</a:t>
            </a:r>
          </a:p>
          <a:p>
            <a:pPr>
              <a:defRPr sz="2000"/>
            </a:pPr>
            <a:r>
              <a:t>数据顺序：指令A可能先处理数据X，再处理数据Y，但数据X和Y在内存中的位置可以任意。</a:t>
            </a:r>
          </a:p>
          <a:p>
            <a:pPr>
              <a:defRPr sz="2000"/>
            </a:pPr>
            <a:r>
              <a:t>易错点**：判断题里说“指令的执行顺序由数据在内存中的位置决定”——这是错的。指令顺序由程序计数器决定，和数据位置无关。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难点2：什么时候用“直接访问”，什么时候用“间接访问”？</a:t>
            </a:r>
          </a:p>
          <a:p>
            <a:pPr>
              <a:defRPr sz="2000"/>
            </a:pPr>
            <a:r>
              <a:t>直接访问**：CPU直接告诉内存“我要地址100的数据”。速度快，但地址必须固定。</a:t>
            </a:r>
          </a:p>
          <a:p>
            <a:pPr>
              <a:defRPr sz="2000"/>
            </a:pPr>
            <a:r>
              <a:t>间接访问**：CPU先找到地址100，发现里面存的是另一个地址200，再去地址200取数据。灵活，但慢一步。</a:t>
            </a:r>
          </a:p>
          <a:p>
            <a:pPr>
              <a:defRPr sz="2000"/>
            </a:pPr>
            <a:r>
              <a:t>判断技巧**：如果题目说“先找地址，再找内容”，就是间接访问。你之前做错的那道判断题，就是没区分“定义”和“使用条件”。</a:t>
            </a:r>
          </a:p>
          <a:p>
            <a:pPr>
              <a:defRPr sz="2000"/>
            </a:pPr>
            <a:r>
              <a:t>示例讲解</a:t>
            </a:r>
          </a:p>
          <a:p>
            <a:pPr>
              <a:defRPr sz="2000"/>
            </a:pPr>
            <a:r>
              <a:t>示例1：选择题——指令执行顺序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题目**：计算机执行一条指令的正确顺序是：</a:t>
            </a:r>
          </a:p>
          <a:p>
            <a:pPr>
              <a:defRPr sz="2000"/>
            </a:pPr>
            <a:r>
              <a:t>A. 取指 → 译码 → 执行 → 回写</a:t>
            </a:r>
          </a:p>
          <a:p>
            <a:pPr>
              <a:defRPr sz="2000"/>
            </a:pPr>
            <a:r>
              <a:t>B. 译码 → 取指 → 执行 → 回写</a:t>
            </a:r>
          </a:p>
          <a:p>
            <a:pPr>
              <a:defRPr sz="2000"/>
            </a:pPr>
            <a:r>
              <a:t>C. 取指 → 执行 → 译码 → 回写</a:t>
            </a:r>
          </a:p>
          <a:p>
            <a:pPr>
              <a:defRPr sz="2000"/>
            </a:pPr>
            <a:r>
              <a:t>D. 执行 → 取指 → 译码 → 回写</a:t>
            </a:r>
          </a:p>
          <a:p>
            <a:pPr>
              <a:defRPr sz="2000"/>
            </a:pPr>
            <a:r>
              <a:t>讲解**：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第一步：必须先从内存中拿到指令（取指），否则后面都不知道要做什么。</a:t>
            </a:r>
          </a:p>
          <a:p>
            <a:pPr>
              <a:defRPr sz="2000"/>
            </a:pPr>
            <a:r>
              <a:t>第二步：拿到指令后，控制器要“看懂”它（译码）。</a:t>
            </a:r>
          </a:p>
          <a:p>
            <a:pPr>
              <a:defRPr sz="2000"/>
            </a:pPr>
            <a:r>
              <a:t>第三步：看懂之后，运算器才能动手（执行）。</a:t>
            </a:r>
          </a:p>
          <a:p>
            <a:pPr>
              <a:defRPr sz="2000"/>
            </a:pPr>
            <a:r>
              <a:t>第四步：把结果存回去（回写）。</a:t>
            </a:r>
          </a:p>
          <a:p>
            <a:pPr>
              <a:defRPr sz="2000"/>
            </a:pPr>
            <a:r>
              <a:t>所以正确答案是 **A**。你之前选C，是把“译码”和“执行”的顺序颠倒了。记住：**先看懂，再动手**。</a:t>
            </a:r>
          </a:p>
          <a:p>
            <a:pPr>
              <a:defRPr sz="2000"/>
            </a:pPr>
            <a:r>
              <a:t>示例2：判断题——条件分析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题目**：CPU可以直接访问硬盘中的数据。（判断对错）</a:t>
            </a:r>
          </a:p>
          <a:p>
            <a:pPr>
              <a:defRPr sz="2000"/>
            </a:pPr>
            <a:r>
              <a:t>讲解**：</a:t>
            </a:r>
          </a:p>
          <a:p>
            <a:pPr>
              <a:defRPr sz="2000"/>
            </a:pPr>
            <a:r>
              <a:t>定义上：CPU只能直接访问内存（RAM），不能直接访问硬盘。</a:t>
            </a:r>
          </a:p>
          <a:p>
            <a:pPr>
              <a:defRPr sz="2000"/>
            </a:pPr>
            <a:r>
              <a:t>条件上：硬盘中的数据必须先读到内存，CPU才能访问。</a:t>
            </a:r>
          </a:p>
          <a:p>
            <a:pPr>
              <a:defRPr sz="2000"/>
            </a:pPr>
            <a:r>
              <a:t>检查方法：问自己“CPU能直接读硬盘的某个扇区吗？”——不能，必须通过操作系统和驱动程序。</a:t>
            </a:r>
          </a:p>
          <a:p>
            <a:pPr>
              <a:defRPr sz="2000"/>
            </a:pPr>
            <a:r>
              <a:t>所以答案是 **错误**。你之前答错，是因为只记住了“CPU访问内存”这个定义，但没有分析“什么时候能访问硬盘、为什么不能直接访问”。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课堂小结</a:t>
            </a:r>
          </a:p>
          <a:p>
            <a:pPr>
              <a:defRPr sz="2000"/>
            </a:pPr>
            <a:r>
              <a:t>今天我们学到了：</a:t>
            </a:r>
          </a:p>
          <a:p>
            <a:pPr>
              <a:defRPr sz="2000"/>
            </a:pPr>
            <a:r>
              <a:t>1. **五大部件**：控制器、运算器、存储器、输入设备、输出设备。</a:t>
            </a:r>
          </a:p>
          <a:p>
            <a:pPr>
              <a:defRPr sz="2000"/>
            </a:pPr>
            <a:r>
              <a:t>2. **指令执行四步**：取指 → 译码 → 执行 → 回写（顺序不能乱）。</a:t>
            </a:r>
          </a:p>
          <a:p>
            <a:pPr>
              <a:defRPr sz="2000"/>
            </a:pPr>
            <a:r>
              <a:t>3. **数据流动**：输入设备 → 内存 → CPU → 内存 → 输出设备。</a:t>
            </a:r>
          </a:p>
          <a:p>
            <a:pPr>
              <a:defRPr sz="2000"/>
            </a:pPr>
            <a:r>
              <a:t>4. **易错提醒**：指令顺序由程序计数器决定，和数据位置无关；CPU不能直接访问硬盘。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记忆抓手**：把计算机想象成做菜——取菜谱（取指）、看懂菜谱（译码）、动手做（执行）、装盘（回写）。</a:t>
            </a:r>
          </a:p>
          <a:p>
            <a:pPr>
              <a:defRPr sz="2000"/>
            </a:pPr>
            <a:r>
              <a:t>学完后自测</a:t>
            </a:r>
          </a:p>
          <a:p>
            <a:pPr>
              <a:defRPr sz="2000"/>
            </a:pPr>
            <a:r>
              <a:t>请回答以下问题，检验你的掌握情况：</a:t>
            </a:r>
          </a:p>
          <a:p>
            <a:pPr>
              <a:defRPr sz="2000"/>
            </a:pPr>
            <a:r>
              <a:t>1. **选择题**：计算机中负责“看懂指令”的部件是？</a:t>
            </a:r>
          </a:p>
          <a:p>
            <a:pPr>
              <a:defRPr sz="2000"/>
            </a:pPr>
            <a:r>
              <a:t>A. 运算器</a:t>
            </a:r>
          </a:p>
          <a:p>
            <a:pPr>
              <a:defRPr sz="2000"/>
            </a:pPr>
            <a:r>
              <a:t>B. 控制器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C. 存储器</a:t>
            </a:r>
          </a:p>
          <a:p>
            <a:pPr>
              <a:defRPr sz="2000"/>
            </a:pPr>
            <a:r>
              <a:t>D. 输入设备</a:t>
            </a:r>
          </a:p>
          <a:p>
            <a:pPr>
              <a:defRPr sz="2000"/>
            </a:pPr>
            <a:r>
              <a:t>2. **判断题**：CPU在执行指令时，可以先执行再取指。（对/错）</a:t>
            </a:r>
          </a:p>
          <a:p>
            <a:pPr>
              <a:defRPr sz="2000"/>
            </a:pPr>
            <a:r>
              <a:t>3. **选择题**：以下哪个是数据流动的正确顺序？</a:t>
            </a:r>
          </a:p>
          <a:p>
            <a:pPr>
              <a:defRPr sz="2000"/>
            </a:pPr>
            <a:r>
              <a:t>A. 键盘 → CPU → 内存 → 显示器</a:t>
            </a:r>
          </a:p>
          <a:p>
            <a:pPr>
              <a:defRPr sz="2000"/>
            </a:pPr>
            <a:r>
              <a:t>B. 键盘 → 内存 → CPU → 内存 → 显示器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C. CPU → 键盘 → 内存 → 显示器</a:t>
            </a:r>
          </a:p>
          <a:p>
            <a:pPr>
              <a:defRPr sz="2000"/>
            </a:pPr>
            <a:r>
              <a:t>D. 内存 → 键盘 → CPU → 显示器</a:t>
            </a:r>
          </a:p>
          <a:p>
            <a:pPr>
              <a:defRPr sz="2000"/>
            </a:pPr>
            <a:r>
              <a:t>4. **判断题**：间接访问比直接访问速度更快。（对/错）</a:t>
            </a:r>
          </a:p>
          <a:p>
            <a:pPr>
              <a:defRPr sz="2000"/>
            </a:pPr>
            <a:r>
              <a:t>5. **简答题**：请用自己的话描述一条指令从开始到结束的完整过程。</a:t>
            </a:r>
          </a:p>
          <a:p>
            <a:pPr>
              <a:defRPr sz="2000"/>
            </a:pPr>
            <a:r>
              <a:t>（答案在课件末尾，先自己思考再对照）</a:t>
            </a:r>
          </a:p>
          <a:p>
            <a:pPr>
              <a:defRPr sz="2000"/>
            </a:pPr>
            <a:r>
              <a:t>拓展延伸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应用场景</a:t>
            </a:r>
          </a:p>
          <a:p>
            <a:pPr>
              <a:defRPr sz="2000"/>
            </a:pPr>
            <a:r>
              <a:t>如果你以后写程序，理解指令执行顺序能帮你优化代码性能。比如，把频繁使用的数据放在CPU缓存中，减少访问内存的次数。</a:t>
            </a:r>
          </a:p>
          <a:p>
            <a:pPr>
              <a:defRPr sz="2000"/>
            </a:pPr>
            <a:r>
              <a:t>如果你对硬件感兴趣，可以进一步学习“流水线技术”——CPU如何同时处理多条指令，就像工厂流水线一样。</a:t>
            </a:r>
          </a:p>
          <a:p>
            <a:pPr>
              <a:defRPr sz="2000"/>
            </a:pPr>
            <a:r>
              <a:t>思考问题</a:t>
            </a:r>
          </a:p>
          <a:p>
            <a:pPr>
              <a:defRPr sz="2000"/>
            </a:pPr>
            <a:r>
              <a:t>为什么计算机不能直接执行人类语言（比如中文），而必须用机器语言？</a:t>
            </a:r>
          </a:p>
          <a:p>
            <a:pPr>
              <a:defRPr sz="2000"/>
            </a:pPr>
            <a:r>
              <a:t>如果内存速度比CPU慢很多，会有什么后果？怎么解决？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下一步学习建议</a:t>
            </a:r>
          </a:p>
          <a:p>
            <a:pPr>
              <a:defRPr sz="2000"/>
            </a:pPr>
            <a:r>
              <a:t>推荐阅读：《计算机组成与设计：硬件/软件接口》（第5版）第1章。</a:t>
            </a:r>
          </a:p>
          <a:p>
            <a:pPr>
              <a:defRPr sz="2000"/>
            </a:pPr>
            <a:r>
              <a:t>动手实践：用模拟器（如Logisim）搭建一个简单的CPU模型，亲眼看看指令是怎么流动的。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自测答案**：</a:t>
            </a:r>
          </a:p>
          <a:p>
            <a:pPr>
              <a:defRPr sz="2000"/>
            </a:pPr>
            <a:r>
              <a:t>1. B（控制器负责译码）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学习课件 ·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2. 错（必须先取指）</a:t>
            </a:r>
          </a:p>
          <a:p>
            <a:pPr>
              <a:defRPr sz="2000"/>
            </a:pPr>
            <a:r>
              <a:t>3. B（数据必须经过内存中转）</a:t>
            </a:r>
          </a:p>
          <a:p>
            <a:pPr>
              <a:defRPr sz="2000"/>
            </a:pPr>
            <a:r>
              <a:t>4. 错（间接访问多一步，更慢）</a:t>
            </a:r>
          </a:p>
          <a:p>
            <a:pPr>
              <a:defRPr sz="2000"/>
            </a:pPr>
            <a:r>
              <a:t>5. 取指：从内存拿到指令；译码：控制器分析指令；执行：运算器操作；回写：结果存回内存。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